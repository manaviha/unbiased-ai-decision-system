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41" r:id="rId1"/>
  </p:sldMasterIdLst>
  <p:notesMasterIdLst>
    <p:notesMasterId r:id="rId17"/>
  </p:notesMasterIdLst>
  <p:handoutMasterIdLst>
    <p:handoutMasterId r:id="rId18"/>
  </p:handoutMasterIdLst>
  <p:sldIdLst>
    <p:sldId id="256" r:id="rId2"/>
    <p:sldId id="257" r:id="rId3"/>
    <p:sldId id="258" r:id="rId4"/>
    <p:sldId id="273" r:id="rId5"/>
    <p:sldId id="261" r:id="rId6"/>
    <p:sldId id="262" r:id="rId7"/>
    <p:sldId id="263" r:id="rId8"/>
    <p:sldId id="274" r:id="rId9"/>
    <p:sldId id="267" r:id="rId10"/>
    <p:sldId id="275" r:id="rId11"/>
    <p:sldId id="271" r:id="rId12"/>
    <p:sldId id="276" r:id="rId13"/>
    <p:sldId id="277" r:id="rId14"/>
    <p:sldId id="272" r:id="rId15"/>
    <p:sldId id="265"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0"/>
      </p:ext>
    </p:extLst>
  </p:showPr>
  <p:clrMru>
    <a:srgbClr val="0000FF"/>
    <a:srgbClr val="000099"/>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551FE9-CC99-4156-813F-B6309723A088}" v="17" dt="2025-12-23T10:51:02.48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p:scale>
          <a:sx n="90" d="100"/>
          <a:sy n="90" d="100"/>
        </p:scale>
        <p:origin x="-370" y="67"/>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avi HA" userId="723c3a2678fb7e97" providerId="LiveId" clId="{40CE5EFA-4CC6-41DB-9290-0B4366AE796E}"/>
    <pc:docChg chg="undo custSel addSld modSld">
      <pc:chgData name="Manavi HA" userId="723c3a2678fb7e97" providerId="LiveId" clId="{40CE5EFA-4CC6-41DB-9290-0B4366AE796E}" dt="2025-12-23T10:52:03.025" v="312" actId="12"/>
      <pc:docMkLst>
        <pc:docMk/>
      </pc:docMkLst>
      <pc:sldChg chg="modSp mod">
        <pc:chgData name="Manavi HA" userId="723c3a2678fb7e97" providerId="LiveId" clId="{40CE5EFA-4CC6-41DB-9290-0B4366AE796E}" dt="2025-12-23T10:22:56.924" v="0" actId="113"/>
        <pc:sldMkLst>
          <pc:docMk/>
          <pc:sldMk cId="0" sldId="257"/>
        </pc:sldMkLst>
        <pc:spChg chg="mod">
          <ac:chgData name="Manavi HA" userId="723c3a2678fb7e97" providerId="LiveId" clId="{40CE5EFA-4CC6-41DB-9290-0B4366AE796E}" dt="2025-12-23T10:22:56.924" v="0" actId="113"/>
          <ac:spMkLst>
            <pc:docMk/>
            <pc:sldMk cId="0" sldId="257"/>
            <ac:spMk id="3" creationId="{A353F5C0-BF40-448D-8510-2F597EFE4235}"/>
          </ac:spMkLst>
        </pc:spChg>
      </pc:sldChg>
      <pc:sldChg chg="modSp mod">
        <pc:chgData name="Manavi HA" userId="723c3a2678fb7e97" providerId="LiveId" clId="{40CE5EFA-4CC6-41DB-9290-0B4366AE796E}" dt="2025-12-23T10:26:27.112" v="38" actId="20577"/>
        <pc:sldMkLst>
          <pc:docMk/>
          <pc:sldMk cId="0" sldId="261"/>
        </pc:sldMkLst>
        <pc:spChg chg="mod">
          <ac:chgData name="Manavi HA" userId="723c3a2678fb7e97" providerId="LiveId" clId="{40CE5EFA-4CC6-41DB-9290-0B4366AE796E}" dt="2025-12-23T10:26:27.112" v="38" actId="20577"/>
          <ac:spMkLst>
            <pc:docMk/>
            <pc:sldMk cId="0" sldId="261"/>
            <ac:spMk id="3" creationId="{8CCC0066-C72D-47AB-88BB-A2D75D6EB984}"/>
          </ac:spMkLst>
        </pc:spChg>
      </pc:sldChg>
      <pc:sldChg chg="modSp mod">
        <pc:chgData name="Manavi HA" userId="723c3a2678fb7e97" providerId="LiveId" clId="{40CE5EFA-4CC6-41DB-9290-0B4366AE796E}" dt="2025-12-23T10:28:50.757" v="48" actId="123"/>
        <pc:sldMkLst>
          <pc:docMk/>
          <pc:sldMk cId="0" sldId="262"/>
        </pc:sldMkLst>
        <pc:spChg chg="mod">
          <ac:chgData name="Manavi HA" userId="723c3a2678fb7e97" providerId="LiveId" clId="{40CE5EFA-4CC6-41DB-9290-0B4366AE796E}" dt="2025-12-23T10:28:50.757" v="48" actId="123"/>
          <ac:spMkLst>
            <pc:docMk/>
            <pc:sldMk cId="0" sldId="262"/>
            <ac:spMk id="8195" creationId="{8AE8CCE6-F8E1-4D64-9900-65F74C0006C0}"/>
          </ac:spMkLst>
        </pc:spChg>
      </pc:sldChg>
      <pc:sldChg chg="modSp mod">
        <pc:chgData name="Manavi HA" userId="723c3a2678fb7e97" providerId="LiveId" clId="{40CE5EFA-4CC6-41DB-9290-0B4366AE796E}" dt="2025-12-23T10:36:21.823" v="122" actId="113"/>
        <pc:sldMkLst>
          <pc:docMk/>
          <pc:sldMk cId="0" sldId="263"/>
        </pc:sldMkLst>
        <pc:spChg chg="mod">
          <ac:chgData name="Manavi HA" userId="723c3a2678fb7e97" providerId="LiveId" clId="{40CE5EFA-4CC6-41DB-9290-0B4366AE796E}" dt="2025-12-23T10:36:21.823" v="122" actId="113"/>
          <ac:spMkLst>
            <pc:docMk/>
            <pc:sldMk cId="0" sldId="263"/>
            <ac:spMk id="9219" creationId="{C53F268E-69C2-42A9-B143-A26506789210}"/>
          </ac:spMkLst>
        </pc:spChg>
      </pc:sldChg>
      <pc:sldChg chg="modSp mod">
        <pc:chgData name="Manavi HA" userId="723c3a2678fb7e97" providerId="LiveId" clId="{40CE5EFA-4CC6-41DB-9290-0B4366AE796E}" dt="2025-12-23T10:40:48.500" v="252" actId="113"/>
        <pc:sldMkLst>
          <pc:docMk/>
          <pc:sldMk cId="0" sldId="267"/>
        </pc:sldMkLst>
        <pc:spChg chg="mod">
          <ac:chgData name="Manavi HA" userId="723c3a2678fb7e97" providerId="LiveId" clId="{40CE5EFA-4CC6-41DB-9290-0B4366AE796E}" dt="2025-12-23T10:40:48.500" v="252" actId="113"/>
          <ac:spMkLst>
            <pc:docMk/>
            <pc:sldMk cId="0" sldId="267"/>
            <ac:spMk id="10243" creationId="{541DC8C6-9174-4832-BB4F-CF4AD5419750}"/>
          </ac:spMkLst>
        </pc:spChg>
      </pc:sldChg>
      <pc:sldChg chg="modSp mod">
        <pc:chgData name="Manavi HA" userId="723c3a2678fb7e97" providerId="LiveId" clId="{40CE5EFA-4CC6-41DB-9290-0B4366AE796E}" dt="2025-12-23T10:44:07.770" v="263" actId="123"/>
        <pc:sldMkLst>
          <pc:docMk/>
          <pc:sldMk cId="0" sldId="271"/>
        </pc:sldMkLst>
        <pc:spChg chg="mod">
          <ac:chgData name="Manavi HA" userId="723c3a2678fb7e97" providerId="LiveId" clId="{40CE5EFA-4CC6-41DB-9290-0B4366AE796E}" dt="2025-12-23T10:44:07.770" v="263" actId="123"/>
          <ac:spMkLst>
            <pc:docMk/>
            <pc:sldMk cId="0" sldId="271"/>
            <ac:spMk id="3" creationId="{00000000-0000-0000-0000-000000000000}"/>
          </ac:spMkLst>
        </pc:spChg>
      </pc:sldChg>
      <pc:sldChg chg="modSp mod">
        <pc:chgData name="Manavi HA" userId="723c3a2678fb7e97" providerId="LiveId" clId="{40CE5EFA-4CC6-41DB-9290-0B4366AE796E}" dt="2025-12-23T10:52:03.025" v="312" actId="12"/>
        <pc:sldMkLst>
          <pc:docMk/>
          <pc:sldMk cId="0" sldId="272"/>
        </pc:sldMkLst>
        <pc:spChg chg="mod">
          <ac:chgData name="Manavi HA" userId="723c3a2678fb7e97" providerId="LiveId" clId="{40CE5EFA-4CC6-41DB-9290-0B4366AE796E}" dt="2025-12-23T10:52:03.025" v="312" actId="12"/>
          <ac:spMkLst>
            <pc:docMk/>
            <pc:sldMk cId="0" sldId="272"/>
            <ac:spMk id="3" creationId="{00000000-0000-0000-0000-000000000000}"/>
          </ac:spMkLst>
        </pc:spChg>
      </pc:sldChg>
      <pc:sldChg chg="modSp mod">
        <pc:chgData name="Manavi HA" userId="723c3a2678fb7e97" providerId="LiveId" clId="{40CE5EFA-4CC6-41DB-9290-0B4366AE796E}" dt="2025-12-23T10:24:50.408" v="12" actId="12"/>
        <pc:sldMkLst>
          <pc:docMk/>
          <pc:sldMk cId="4169594800" sldId="273"/>
        </pc:sldMkLst>
        <pc:spChg chg="mod">
          <ac:chgData name="Manavi HA" userId="723c3a2678fb7e97" providerId="LiveId" clId="{40CE5EFA-4CC6-41DB-9290-0B4366AE796E}" dt="2025-12-23T10:24:50.408" v="12" actId="12"/>
          <ac:spMkLst>
            <pc:docMk/>
            <pc:sldMk cId="4169594800" sldId="273"/>
            <ac:spMk id="6147" creationId="{CC8A8245-BDD7-FAE8-103C-FAF4A28B5F48}"/>
          </ac:spMkLst>
        </pc:spChg>
      </pc:sldChg>
      <pc:sldChg chg="modSp add mod">
        <pc:chgData name="Manavi HA" userId="723c3a2678fb7e97" providerId="LiveId" clId="{40CE5EFA-4CC6-41DB-9290-0B4366AE796E}" dt="2025-12-23T10:37:56.693" v="171" actId="113"/>
        <pc:sldMkLst>
          <pc:docMk/>
          <pc:sldMk cId="3149217257" sldId="274"/>
        </pc:sldMkLst>
        <pc:spChg chg="mod">
          <ac:chgData name="Manavi HA" userId="723c3a2678fb7e97" providerId="LiveId" clId="{40CE5EFA-4CC6-41DB-9290-0B4366AE796E}" dt="2025-12-23T10:37:56.693" v="171" actId="113"/>
          <ac:spMkLst>
            <pc:docMk/>
            <pc:sldMk cId="3149217257" sldId="274"/>
            <ac:spMk id="9219" creationId="{5C9830E6-1DBE-026A-7B12-3599292F860B}"/>
          </ac:spMkLst>
        </pc:spChg>
      </pc:sldChg>
      <pc:sldChg chg="modSp add mod">
        <pc:chgData name="Manavi HA" userId="723c3a2678fb7e97" providerId="LiveId" clId="{40CE5EFA-4CC6-41DB-9290-0B4366AE796E}" dt="2025-12-23T10:41:54.071" v="257" actId="123"/>
        <pc:sldMkLst>
          <pc:docMk/>
          <pc:sldMk cId="3567763439" sldId="275"/>
        </pc:sldMkLst>
        <pc:spChg chg="mod">
          <ac:chgData name="Manavi HA" userId="723c3a2678fb7e97" providerId="LiveId" clId="{40CE5EFA-4CC6-41DB-9290-0B4366AE796E}" dt="2025-12-23T10:41:54.071" v="257" actId="123"/>
          <ac:spMkLst>
            <pc:docMk/>
            <pc:sldMk cId="3567763439" sldId="275"/>
            <ac:spMk id="10243" creationId="{FD9519DF-FD87-959F-9D50-765DABB5D055}"/>
          </ac:spMkLst>
        </pc:spChg>
      </pc:sldChg>
      <pc:sldChg chg="modSp add mod">
        <pc:chgData name="Manavi HA" userId="723c3a2678fb7e97" providerId="LiveId" clId="{40CE5EFA-4CC6-41DB-9290-0B4366AE796E}" dt="2025-12-23T10:45:20.337" v="271" actId="123"/>
        <pc:sldMkLst>
          <pc:docMk/>
          <pc:sldMk cId="1761744038" sldId="276"/>
        </pc:sldMkLst>
        <pc:spChg chg="mod">
          <ac:chgData name="Manavi HA" userId="723c3a2678fb7e97" providerId="LiveId" clId="{40CE5EFA-4CC6-41DB-9290-0B4366AE796E}" dt="2025-12-23T10:45:20.337" v="271" actId="123"/>
          <ac:spMkLst>
            <pc:docMk/>
            <pc:sldMk cId="1761744038" sldId="276"/>
            <ac:spMk id="3" creationId="{A339C5D9-32D1-97AC-E155-91FB3606D27C}"/>
          </ac:spMkLst>
        </pc:spChg>
      </pc:sldChg>
      <pc:sldChg chg="modSp add mod">
        <pc:chgData name="Manavi HA" userId="723c3a2678fb7e97" providerId="LiveId" clId="{40CE5EFA-4CC6-41DB-9290-0B4366AE796E}" dt="2025-12-23T10:49:14.488" v="299" actId="12"/>
        <pc:sldMkLst>
          <pc:docMk/>
          <pc:sldMk cId="3077888120" sldId="277"/>
        </pc:sldMkLst>
        <pc:spChg chg="mod">
          <ac:chgData name="Manavi HA" userId="723c3a2678fb7e97" providerId="LiveId" clId="{40CE5EFA-4CC6-41DB-9290-0B4366AE796E}" dt="2025-12-23T10:48:40.180" v="297" actId="20577"/>
          <ac:spMkLst>
            <pc:docMk/>
            <pc:sldMk cId="3077888120" sldId="277"/>
            <ac:spMk id="2" creationId="{026135F4-6294-78AB-F95C-C2279E9529B2}"/>
          </ac:spMkLst>
        </pc:spChg>
        <pc:spChg chg="mod">
          <ac:chgData name="Manavi HA" userId="723c3a2678fb7e97" providerId="LiveId" clId="{40CE5EFA-4CC6-41DB-9290-0B4366AE796E}" dt="2025-12-23T10:49:14.488" v="299" actId="12"/>
          <ac:spMkLst>
            <pc:docMk/>
            <pc:sldMk cId="3077888120" sldId="277"/>
            <ac:spMk id="3" creationId="{B72819AF-2064-7B45-FBD2-A4A6AB746A6B}"/>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2DB5FDEA-7433-41EF-A81E-02146FF8957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IN"/>
          </a:p>
        </p:txBody>
      </p:sp>
      <p:sp>
        <p:nvSpPr>
          <p:cNvPr id="3" name="Date Placeholder 2">
            <a:extLst>
              <a:ext uri="{FF2B5EF4-FFF2-40B4-BE49-F238E27FC236}">
                <a16:creationId xmlns:a16="http://schemas.microsoft.com/office/drawing/2014/main" xmlns="" id="{D7E38B7D-B478-4E18-B06C-9FAB8889801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fontAlgn="auto">
              <a:spcBef>
                <a:spcPts val="0"/>
              </a:spcBef>
              <a:spcAft>
                <a:spcPts val="0"/>
              </a:spcAft>
              <a:defRPr sz="1200" smtClean="0">
                <a:latin typeface="+mn-lt"/>
              </a:defRPr>
            </a:lvl1pPr>
          </a:lstStyle>
          <a:p>
            <a:pPr>
              <a:defRPr/>
            </a:pPr>
            <a:fld id="{A04E4656-DB40-445F-8661-241413F8108E}" type="datetimeFigureOut">
              <a:rPr lang="en-IN"/>
              <a:pPr>
                <a:defRPr/>
              </a:pPr>
              <a:t>15-01-2026</a:t>
            </a:fld>
            <a:endParaRPr lang="en-IN"/>
          </a:p>
        </p:txBody>
      </p:sp>
      <p:sp>
        <p:nvSpPr>
          <p:cNvPr id="4" name="Footer Placeholder 3">
            <a:extLst>
              <a:ext uri="{FF2B5EF4-FFF2-40B4-BE49-F238E27FC236}">
                <a16:creationId xmlns:a16="http://schemas.microsoft.com/office/drawing/2014/main" xmlns="" id="{E444E3DA-D6C6-472C-B6E1-2ED4C6290CB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fontAlgn="auto">
              <a:spcBef>
                <a:spcPts val="0"/>
              </a:spcBef>
              <a:spcAft>
                <a:spcPts val="0"/>
              </a:spcAft>
              <a:defRPr sz="1200" smtClean="0">
                <a:latin typeface="+mn-lt"/>
              </a:defRPr>
            </a:lvl1pPr>
          </a:lstStyle>
          <a:p>
            <a:pPr>
              <a:defRPr/>
            </a:pPr>
            <a:r>
              <a:rPr lang="en-IN"/>
              <a:t>Dept. of CSE, GAT                                           2017-18</a:t>
            </a:r>
          </a:p>
        </p:txBody>
      </p:sp>
      <p:sp>
        <p:nvSpPr>
          <p:cNvPr id="5" name="Slide Number Placeholder 4">
            <a:extLst>
              <a:ext uri="{FF2B5EF4-FFF2-40B4-BE49-F238E27FC236}">
                <a16:creationId xmlns:a16="http://schemas.microsoft.com/office/drawing/2014/main" xmlns="" id="{4336DF6F-B9FC-4F49-8B1D-9AC0110A762A}"/>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73AF9805-AE96-4376-94BB-C05D6D45AF2E}" type="slidenum">
              <a:rPr lang="en-IN" altLang="en-US"/>
              <a:pPr/>
              <a:t>‹#›</a:t>
            </a:fld>
            <a:endParaRPr lang="en-IN" altLang="en-US"/>
          </a:p>
        </p:txBody>
      </p:sp>
    </p:spTree>
    <p:extLst>
      <p:ext uri="{BB962C8B-B14F-4D97-AF65-F5344CB8AC3E}">
        <p14:creationId xmlns:p14="http://schemas.microsoft.com/office/powerpoint/2010/main" xmlns="" val="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5E05881F-B8B6-4D63-83E9-FA7EECF0FA1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IN"/>
          </a:p>
        </p:txBody>
      </p:sp>
      <p:sp>
        <p:nvSpPr>
          <p:cNvPr id="3" name="Date Placeholder 2">
            <a:extLst>
              <a:ext uri="{FF2B5EF4-FFF2-40B4-BE49-F238E27FC236}">
                <a16:creationId xmlns:a16="http://schemas.microsoft.com/office/drawing/2014/main" xmlns="" id="{6F071502-40CD-47FD-8E92-EFE05D58E0E6}"/>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spcBef>
                <a:spcPts val="0"/>
              </a:spcBef>
              <a:spcAft>
                <a:spcPts val="0"/>
              </a:spcAft>
              <a:defRPr sz="1200" smtClean="0">
                <a:latin typeface="+mn-lt"/>
              </a:defRPr>
            </a:lvl1pPr>
          </a:lstStyle>
          <a:p>
            <a:pPr>
              <a:defRPr/>
            </a:pPr>
            <a:fld id="{71653099-3773-413C-BA16-8B0A4BA0CA4F}" type="datetimeFigureOut">
              <a:rPr lang="en-IN"/>
              <a:pPr>
                <a:defRPr/>
              </a:pPr>
              <a:t>15-01-2026</a:t>
            </a:fld>
            <a:endParaRPr lang="en-IN"/>
          </a:p>
        </p:txBody>
      </p:sp>
      <p:sp>
        <p:nvSpPr>
          <p:cNvPr id="4" name="Slide Image Placeholder 3">
            <a:extLst>
              <a:ext uri="{FF2B5EF4-FFF2-40B4-BE49-F238E27FC236}">
                <a16:creationId xmlns:a16="http://schemas.microsoft.com/office/drawing/2014/main" xmlns="" id="{44440375-0FD9-4E86-A933-0AF4F9C55E1C}"/>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a:extLst>
              <a:ext uri="{FF2B5EF4-FFF2-40B4-BE49-F238E27FC236}">
                <a16:creationId xmlns:a16="http://schemas.microsoft.com/office/drawing/2014/main" xmlns="" id="{99DE0880-5829-4649-BE4D-E1D59EA9C682}"/>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a:extLst>
              <a:ext uri="{FF2B5EF4-FFF2-40B4-BE49-F238E27FC236}">
                <a16:creationId xmlns:a16="http://schemas.microsoft.com/office/drawing/2014/main" xmlns="" id="{09D1A681-3E1F-407C-811A-602AD610E38C}"/>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spcBef>
                <a:spcPts val="0"/>
              </a:spcBef>
              <a:spcAft>
                <a:spcPts val="0"/>
              </a:spcAft>
              <a:defRPr sz="1200" smtClean="0">
                <a:latin typeface="+mn-lt"/>
              </a:defRPr>
            </a:lvl1pPr>
          </a:lstStyle>
          <a:p>
            <a:pPr>
              <a:defRPr/>
            </a:pPr>
            <a:r>
              <a:rPr lang="en-IN"/>
              <a:t>Dept. of CSE, GAT                                           2017-18</a:t>
            </a:r>
          </a:p>
        </p:txBody>
      </p:sp>
      <p:sp>
        <p:nvSpPr>
          <p:cNvPr id="7" name="Slide Number Placeholder 6">
            <a:extLst>
              <a:ext uri="{FF2B5EF4-FFF2-40B4-BE49-F238E27FC236}">
                <a16:creationId xmlns:a16="http://schemas.microsoft.com/office/drawing/2014/main" xmlns="" id="{3752ECE0-CB1D-4858-93A3-C1A819F79B13}"/>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20DEE8AD-BCB6-4689-939B-CB21C2235351}" type="slidenum">
              <a:rPr lang="en-IN" altLang="en-US"/>
              <a:pPr/>
              <a:t>‹#›</a:t>
            </a:fld>
            <a:endParaRPr lang="en-IN" altLang="en-US"/>
          </a:p>
        </p:txBody>
      </p:sp>
    </p:spTree>
  </p:cSld>
  <p:clrMap bg1="lt1" tx1="dk1" bg2="lt2" tx2="dk2" accent1="accent1" accent2="accent2" accent3="accent3" accent4="accent4" accent5="accent5" accent6="accent6" hlink="hlink" folHlink="folHlink"/>
  <p:hf hdr="0" dt="0"/>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xmlns="" id="{8C4FB35D-300D-42F4-B8AF-4D349A7A8482}"/>
              </a:ext>
            </a:extLst>
          </p:cNvPr>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9459" name="Notes Placeholder 2">
            <a:extLst>
              <a:ext uri="{FF2B5EF4-FFF2-40B4-BE49-F238E27FC236}">
                <a16:creationId xmlns:a16="http://schemas.microsoft.com/office/drawing/2014/main" xmlns="" id="{6D76B286-4205-4A75-8347-A9815E4029C1}"/>
              </a:ext>
            </a:extLst>
          </p:cNvPr>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IN" altLang="en-US"/>
          </a:p>
        </p:txBody>
      </p:sp>
      <p:sp>
        <p:nvSpPr>
          <p:cNvPr id="19460" name="Slide Number Placeholder 3">
            <a:extLst>
              <a:ext uri="{FF2B5EF4-FFF2-40B4-BE49-F238E27FC236}">
                <a16:creationId xmlns:a16="http://schemas.microsoft.com/office/drawing/2014/main" xmlns="" id="{A06BE234-1C3A-491F-A3FF-B45C5614B494}"/>
              </a:ext>
            </a:extLst>
          </p:cNvPr>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6D8A0207-8077-4EFE-B1AE-E461D3A19AE0}" type="slidenum">
              <a:rPr lang="en-IN" altLang="en-US"/>
              <a:pPr/>
              <a:t>2</a:t>
            </a:fld>
            <a:endParaRPr lang="en-IN" altLang="en-US"/>
          </a:p>
        </p:txBody>
      </p:sp>
      <p:sp>
        <p:nvSpPr>
          <p:cNvPr id="19461" name="Footer Placeholder 4">
            <a:extLst>
              <a:ext uri="{FF2B5EF4-FFF2-40B4-BE49-F238E27FC236}">
                <a16:creationId xmlns:a16="http://schemas.microsoft.com/office/drawing/2014/main" xmlns="" id="{31B02692-8F2A-4122-B52E-74640A65D9BE}"/>
              </a:ext>
            </a:extLst>
          </p:cNvPr>
          <p:cNvSpPr>
            <a:spLocks noGrp="1"/>
          </p:cNvSpPr>
          <p:nvPr>
            <p:ph type="ftr" sz="quarter" idx="4"/>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IN" altLang="en-US"/>
              <a:t>Dept. of CSE, GAT                                           2017-18</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F8B9A5B-5909-4A48-B7B6-24E50A657D27}" type="datetime1">
              <a:rPr lang="en-US" smtClean="0"/>
              <a:pPr/>
              <a:t>1/15/2026</a:t>
            </a:fld>
            <a:endParaRPr lang="en-US" dirty="0"/>
          </a:p>
        </p:txBody>
      </p:sp>
      <p:sp>
        <p:nvSpPr>
          <p:cNvPr id="5" name="Footer Placeholder 4"/>
          <p:cNvSpPr>
            <a:spLocks noGrp="1"/>
          </p:cNvSpPr>
          <p:nvPr>
            <p:ph type="ftr" sz="quarter" idx="11"/>
          </p:nvPr>
        </p:nvSpPr>
        <p:spPr/>
        <p:txBody>
          <a:bodyPr/>
          <a:lstStyle/>
          <a:p>
            <a:r>
              <a:rPr kumimoji="0" lang="en-US"/>
              <a:t>Department of CSE, DSATM                                        2023-24</a:t>
            </a:r>
            <a:endParaRPr kumimoji="0" lang="en-US" dirty="0"/>
          </a:p>
        </p:txBody>
      </p:sp>
      <p:sp>
        <p:nvSpPr>
          <p:cNvPr id="6" name="Slide Number Placeholder 5"/>
          <p:cNvSpPr>
            <a:spLocks noGrp="1"/>
          </p:cNvSpPr>
          <p:nvPr>
            <p:ph type="sldNum" sz="quarter" idx="12"/>
          </p:nvPr>
        </p:nvSpPr>
        <p:spPr/>
        <p:txBody>
          <a:bodyPr/>
          <a:lstStyle/>
          <a:p>
            <a:fld id="{2BBB5E19-F10A-4C2F-BF6F-11C513378A2E}" type="slidenum">
              <a:rPr kumimoji="0" lang="en-US" smtClean="0"/>
              <a:pPr/>
              <a:t>‹#›</a:t>
            </a:fld>
            <a:endParaRPr kumimoji="0"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29499970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lgn="r" eaLnBrk="1" latinLnBrk="0" hangingPunct="1"/>
            <a:fld id="{7FAC7049-8478-4DA5-AB77-A626946F4B5D}" type="datetime1">
              <a:rPr lang="en-US" smtClean="0"/>
              <a:pPr algn="r" eaLnBrk="1" latinLnBrk="0" hangingPunct="1"/>
              <a:t>1/15/2026</a:t>
            </a:fld>
            <a:endParaRPr lang="en-US"/>
          </a:p>
        </p:txBody>
      </p:sp>
      <p:sp>
        <p:nvSpPr>
          <p:cNvPr id="5" name="Footer Placeholder 4"/>
          <p:cNvSpPr>
            <a:spLocks noGrp="1"/>
          </p:cNvSpPr>
          <p:nvPr>
            <p:ph type="ftr" sz="quarter" idx="11"/>
          </p:nvPr>
        </p:nvSpPr>
        <p:spPr/>
        <p:txBody>
          <a:bodyPr/>
          <a:lstStyle/>
          <a:p>
            <a:pPr>
              <a:defRPr/>
            </a:pPr>
            <a:r>
              <a:rPr lang="en-US"/>
              <a:t>Department of CSE, DSATM                                        2023-24</a:t>
            </a:r>
            <a:endParaRPr lang="en-IN"/>
          </a:p>
        </p:txBody>
      </p:sp>
      <p:sp>
        <p:nvSpPr>
          <p:cNvPr id="6" name="Slide Number Placeholder 5"/>
          <p:cNvSpPr>
            <a:spLocks noGrp="1"/>
          </p:cNvSpPr>
          <p:nvPr>
            <p:ph type="sldNum" sz="quarter" idx="12"/>
          </p:nvPr>
        </p:nvSpPr>
        <p:spPr/>
        <p:txBody>
          <a:bodyPr/>
          <a:lstStyle/>
          <a:p>
            <a:fld id="{78093063-C89A-4436-B1EA-6FAF9DA693C7}" type="slidenum">
              <a:rPr lang="en-IN" altLang="en-US" smtClean="0"/>
              <a:pPr/>
              <a:t>‹#›</a:t>
            </a:fld>
            <a:endParaRPr lang="en-IN" altLang="en-US"/>
          </a:p>
        </p:txBody>
      </p:sp>
    </p:spTree>
    <p:extLst>
      <p:ext uri="{BB962C8B-B14F-4D97-AF65-F5344CB8AC3E}">
        <p14:creationId xmlns:p14="http://schemas.microsoft.com/office/powerpoint/2010/main" xmlns="" val="24072693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40A573DD-CE83-4390-AD52-7AD59B42FD44}" type="datetime1">
              <a:rPr lang="en-US" smtClean="0"/>
              <a:pPr>
                <a:defRPr/>
              </a:pPr>
              <a:t>1/15/2026</a:t>
            </a:fld>
            <a:endParaRPr lang="en-IN"/>
          </a:p>
        </p:txBody>
      </p:sp>
      <p:sp>
        <p:nvSpPr>
          <p:cNvPr id="5" name="Footer Placeholder 4"/>
          <p:cNvSpPr>
            <a:spLocks noGrp="1"/>
          </p:cNvSpPr>
          <p:nvPr>
            <p:ph type="ftr" sz="quarter" idx="11"/>
          </p:nvPr>
        </p:nvSpPr>
        <p:spPr/>
        <p:txBody>
          <a:bodyPr/>
          <a:lstStyle/>
          <a:p>
            <a:pPr>
              <a:defRPr/>
            </a:pPr>
            <a:r>
              <a:rPr lang="en-US"/>
              <a:t>Department of CSE, DSATM                                        2023-24</a:t>
            </a:r>
            <a:endParaRPr lang="en-IN"/>
          </a:p>
        </p:txBody>
      </p:sp>
      <p:sp>
        <p:nvSpPr>
          <p:cNvPr id="6" name="Slide Number Placeholder 5"/>
          <p:cNvSpPr>
            <a:spLocks noGrp="1"/>
          </p:cNvSpPr>
          <p:nvPr>
            <p:ph type="sldNum" sz="quarter" idx="12"/>
          </p:nvPr>
        </p:nvSpPr>
        <p:spPr/>
        <p:txBody>
          <a:bodyPr/>
          <a:lstStyle/>
          <a:p>
            <a:fld id="{349D3D61-C6BF-43C8-A68C-EFC750ACE164}" type="slidenum">
              <a:rPr lang="en-IN" altLang="en-US" smtClean="0"/>
              <a:pPr/>
              <a:t>‹#›</a:t>
            </a:fld>
            <a:endParaRPr lang="en-IN"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10250428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EEADBF87-D5B4-47DB-A3EB-84775FF3A961}" type="datetime1">
              <a:rPr lang="en-US" smtClean="0"/>
              <a:pPr>
                <a:defRPr/>
              </a:pPr>
              <a:t>1/15/2026</a:t>
            </a:fld>
            <a:endParaRPr lang="en-IN"/>
          </a:p>
        </p:txBody>
      </p:sp>
      <p:sp>
        <p:nvSpPr>
          <p:cNvPr id="6" name="Footer Placeholder 5"/>
          <p:cNvSpPr>
            <a:spLocks noGrp="1"/>
          </p:cNvSpPr>
          <p:nvPr>
            <p:ph type="ftr" sz="quarter" idx="11"/>
          </p:nvPr>
        </p:nvSpPr>
        <p:spPr/>
        <p:txBody>
          <a:bodyPr/>
          <a:lstStyle/>
          <a:p>
            <a:pPr>
              <a:defRPr/>
            </a:pPr>
            <a:r>
              <a:rPr lang="en-US"/>
              <a:t>Department of CSE, DSATM                                        2023-24</a:t>
            </a:r>
            <a:endParaRPr lang="en-IN"/>
          </a:p>
        </p:txBody>
      </p:sp>
      <p:sp>
        <p:nvSpPr>
          <p:cNvPr id="7" name="Slide Number Placeholder 6"/>
          <p:cNvSpPr>
            <a:spLocks noGrp="1"/>
          </p:cNvSpPr>
          <p:nvPr>
            <p:ph type="sldNum" sz="quarter" idx="12"/>
          </p:nvPr>
        </p:nvSpPr>
        <p:spPr/>
        <p:txBody>
          <a:bodyPr/>
          <a:lstStyle/>
          <a:p>
            <a:fld id="{3B6BC7D8-DDD0-49D2-9199-FB2A48044D50}" type="slidenum">
              <a:rPr lang="en-IN" altLang="en-US" smtClean="0"/>
              <a:pPr/>
              <a:t>‹#›</a:t>
            </a:fld>
            <a:endParaRPr lang="en-IN" altLang="en-US"/>
          </a:p>
        </p:txBody>
      </p:sp>
    </p:spTree>
    <p:extLst>
      <p:ext uri="{BB962C8B-B14F-4D97-AF65-F5344CB8AC3E}">
        <p14:creationId xmlns:p14="http://schemas.microsoft.com/office/powerpoint/2010/main" xmlns="" val="30920433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8C7C2E17-858E-45A4-BA61-722385B4B602}" type="datetime1">
              <a:rPr lang="en-US" smtClean="0"/>
              <a:pPr>
                <a:defRPr/>
              </a:pPr>
              <a:t>1/15/2026</a:t>
            </a:fld>
            <a:endParaRPr lang="en-IN"/>
          </a:p>
        </p:txBody>
      </p:sp>
      <p:sp>
        <p:nvSpPr>
          <p:cNvPr id="8" name="Footer Placeholder 7"/>
          <p:cNvSpPr>
            <a:spLocks noGrp="1"/>
          </p:cNvSpPr>
          <p:nvPr>
            <p:ph type="ftr" sz="quarter" idx="11"/>
          </p:nvPr>
        </p:nvSpPr>
        <p:spPr/>
        <p:txBody>
          <a:bodyPr/>
          <a:lstStyle/>
          <a:p>
            <a:pPr>
              <a:defRPr/>
            </a:pPr>
            <a:r>
              <a:rPr lang="en-US"/>
              <a:t>Department of CSE, DSATM                                        2023-24</a:t>
            </a:r>
            <a:endParaRPr lang="en-IN"/>
          </a:p>
        </p:txBody>
      </p:sp>
      <p:sp>
        <p:nvSpPr>
          <p:cNvPr id="9" name="Slide Number Placeholder 8"/>
          <p:cNvSpPr>
            <a:spLocks noGrp="1"/>
          </p:cNvSpPr>
          <p:nvPr>
            <p:ph type="sldNum" sz="quarter" idx="12"/>
          </p:nvPr>
        </p:nvSpPr>
        <p:spPr/>
        <p:txBody>
          <a:bodyPr/>
          <a:lstStyle/>
          <a:p>
            <a:fld id="{158A8799-5A25-46DC-81DA-1FD04662FC3D}" type="slidenum">
              <a:rPr lang="en-IN" altLang="en-US" smtClean="0"/>
              <a:pPr/>
              <a:t>‹#›</a:t>
            </a:fld>
            <a:endParaRPr lang="en-IN" altLang="en-US"/>
          </a:p>
        </p:txBody>
      </p:sp>
    </p:spTree>
    <p:extLst>
      <p:ext uri="{BB962C8B-B14F-4D97-AF65-F5344CB8AC3E}">
        <p14:creationId xmlns:p14="http://schemas.microsoft.com/office/powerpoint/2010/main" xmlns="" val="2747499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193D6ACD-9F45-43A1-822B-19872104354D}" type="datetime1">
              <a:rPr lang="en-US" smtClean="0"/>
              <a:pPr>
                <a:defRPr/>
              </a:pPr>
              <a:t>1/15/2026</a:t>
            </a:fld>
            <a:endParaRPr lang="en-IN"/>
          </a:p>
        </p:txBody>
      </p:sp>
      <p:sp>
        <p:nvSpPr>
          <p:cNvPr id="4" name="Footer Placeholder 3"/>
          <p:cNvSpPr>
            <a:spLocks noGrp="1"/>
          </p:cNvSpPr>
          <p:nvPr>
            <p:ph type="ftr" sz="quarter" idx="11"/>
          </p:nvPr>
        </p:nvSpPr>
        <p:spPr/>
        <p:txBody>
          <a:bodyPr/>
          <a:lstStyle/>
          <a:p>
            <a:pPr>
              <a:defRPr/>
            </a:pPr>
            <a:r>
              <a:rPr lang="en-US"/>
              <a:t>Department of CSE, DSATM                                        2023-24</a:t>
            </a:r>
            <a:endParaRPr lang="en-IN"/>
          </a:p>
        </p:txBody>
      </p:sp>
      <p:sp>
        <p:nvSpPr>
          <p:cNvPr id="5" name="Slide Number Placeholder 4"/>
          <p:cNvSpPr>
            <a:spLocks noGrp="1"/>
          </p:cNvSpPr>
          <p:nvPr>
            <p:ph type="sldNum" sz="quarter" idx="12"/>
          </p:nvPr>
        </p:nvSpPr>
        <p:spPr/>
        <p:txBody>
          <a:bodyPr/>
          <a:lstStyle/>
          <a:p>
            <a:fld id="{B5978AB8-09EF-4615-A6CB-3570900843FF}" type="slidenum">
              <a:rPr lang="en-IN" altLang="en-US" smtClean="0"/>
              <a:pPr/>
              <a:t>‹#›</a:t>
            </a:fld>
            <a:endParaRPr lang="en-IN" altLang="en-US"/>
          </a:p>
        </p:txBody>
      </p:sp>
    </p:spTree>
    <p:extLst>
      <p:ext uri="{BB962C8B-B14F-4D97-AF65-F5344CB8AC3E}">
        <p14:creationId xmlns:p14="http://schemas.microsoft.com/office/powerpoint/2010/main" xmlns="" val="34424161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pPr>
              <a:defRPr/>
            </a:pPr>
            <a:fld id="{471256AF-2FFB-46B4-8B54-7E20F1D453DA}" type="datetime1">
              <a:rPr lang="en-US" smtClean="0"/>
              <a:pPr>
                <a:defRPr/>
              </a:pPr>
              <a:t>1/15/2026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pPr>
              <a:defRPr/>
            </a:pPr>
            <a:r>
              <a:rPr lang="en-US"/>
              <a:t>Department of CSE, DSATM                                        2023-24</a:t>
            </a:r>
            <a:endParaRPr lang="en-IN"/>
          </a:p>
        </p:txBody>
      </p:sp>
      <p:sp>
        <p:nvSpPr>
          <p:cNvPr id="9" name="Slide Number Placeholder 8"/>
          <p:cNvSpPr>
            <a:spLocks noGrp="1"/>
          </p:cNvSpPr>
          <p:nvPr>
            <p:ph type="sldNum" sz="quarter" idx="12"/>
          </p:nvPr>
        </p:nvSpPr>
        <p:spPr/>
        <p:txBody>
          <a:bodyPr/>
          <a:lstStyle/>
          <a:p>
            <a:fld id="{97324EFA-ACD3-4DE0-A153-848A554EACF9}" type="slidenum">
              <a:rPr lang="en-IN" altLang="en-US" smtClean="0"/>
              <a:pPr/>
              <a:t>‹#›</a:t>
            </a:fld>
            <a:endParaRPr lang="en-IN" altLang="en-US"/>
          </a:p>
        </p:txBody>
      </p:sp>
    </p:spTree>
    <p:extLst>
      <p:ext uri="{BB962C8B-B14F-4D97-AF65-F5344CB8AC3E}">
        <p14:creationId xmlns:p14="http://schemas.microsoft.com/office/powerpoint/2010/main" xmlns="" val="15764957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pPr>
              <a:defRPr/>
            </a:pPr>
            <a:fld id="{500585E0-9F9B-41A3-8B0D-58B3B3449448}" type="datetime1">
              <a:rPr lang="en-US" smtClean="0"/>
              <a:pPr>
                <a:defRPr/>
              </a:pPr>
              <a:t>1/15/2026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pPr>
              <a:defRPr/>
            </a:pPr>
            <a:r>
              <a:rPr lang="en-US"/>
              <a:t>Department of CSE, DSATM                                        2023-24</a:t>
            </a:r>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2D17E26-54CF-46BC-B9F5-5D7D6C10E62A}" type="slidenum">
              <a:rPr lang="en-IN" altLang="en-US" smtClean="0"/>
              <a:pPr/>
              <a:t>‹#›</a:t>
            </a:fld>
            <a:endParaRPr lang="en-IN" altLang="en-US"/>
          </a:p>
        </p:txBody>
      </p:sp>
    </p:spTree>
    <p:extLst>
      <p:ext uri="{BB962C8B-B14F-4D97-AF65-F5344CB8AC3E}">
        <p14:creationId xmlns:p14="http://schemas.microsoft.com/office/powerpoint/2010/main" xmlns="" val="18473360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B3EFFCF3-436A-4107-A13F-725EB7B4A019}" type="datetime1">
              <a:rPr lang="en-US" smtClean="0"/>
              <a:pPr>
                <a:defRPr/>
              </a:pPr>
              <a:t>1/15/2026</a:t>
            </a:fld>
            <a:endParaRPr lang="en-IN"/>
          </a:p>
        </p:txBody>
      </p:sp>
      <p:sp>
        <p:nvSpPr>
          <p:cNvPr id="6" name="Footer Placeholder 5"/>
          <p:cNvSpPr>
            <a:spLocks noGrp="1"/>
          </p:cNvSpPr>
          <p:nvPr>
            <p:ph type="ftr" sz="quarter" idx="11"/>
          </p:nvPr>
        </p:nvSpPr>
        <p:spPr/>
        <p:txBody>
          <a:bodyPr/>
          <a:lstStyle/>
          <a:p>
            <a:pPr>
              <a:defRPr/>
            </a:pPr>
            <a:r>
              <a:rPr lang="en-US"/>
              <a:t>Department of CSE, DSATM                                        2023-24</a:t>
            </a:r>
            <a:endParaRPr lang="en-IN"/>
          </a:p>
        </p:txBody>
      </p:sp>
      <p:sp>
        <p:nvSpPr>
          <p:cNvPr id="7" name="Slide Number Placeholder 6"/>
          <p:cNvSpPr>
            <a:spLocks noGrp="1"/>
          </p:cNvSpPr>
          <p:nvPr>
            <p:ph type="sldNum" sz="quarter" idx="12"/>
          </p:nvPr>
        </p:nvSpPr>
        <p:spPr/>
        <p:txBody>
          <a:bodyPr/>
          <a:lstStyle/>
          <a:p>
            <a:fld id="{3E1D91C5-C0A8-4DD3-89EF-9458F36B2890}" type="slidenum">
              <a:rPr lang="en-IN" altLang="en-US" smtClean="0"/>
              <a:pPr/>
              <a:t>‹#›</a:t>
            </a:fld>
            <a:endParaRPr lang="en-IN" altLang="en-US"/>
          </a:p>
        </p:txBody>
      </p:sp>
    </p:spTree>
    <p:extLst>
      <p:ext uri="{BB962C8B-B14F-4D97-AF65-F5344CB8AC3E}">
        <p14:creationId xmlns:p14="http://schemas.microsoft.com/office/powerpoint/2010/main" xmlns="" val="19205302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C9F40851-2930-4C35-8DAD-D65F77D45AA5}" type="datetime1">
              <a:rPr lang="en-US" smtClean="0"/>
              <a:pPr>
                <a:defRPr/>
              </a:pPr>
              <a:t>1/15/2026</a:t>
            </a:fld>
            <a:endParaRPr lang="en-IN"/>
          </a:p>
        </p:txBody>
      </p:sp>
      <p:sp>
        <p:nvSpPr>
          <p:cNvPr id="5" name="Footer Placeholder 4"/>
          <p:cNvSpPr>
            <a:spLocks noGrp="1"/>
          </p:cNvSpPr>
          <p:nvPr>
            <p:ph type="ftr" sz="quarter" idx="11"/>
          </p:nvPr>
        </p:nvSpPr>
        <p:spPr/>
        <p:txBody>
          <a:bodyPr/>
          <a:lstStyle/>
          <a:p>
            <a:pPr>
              <a:defRPr/>
            </a:pPr>
            <a:r>
              <a:rPr lang="en-US"/>
              <a:t>Department of CSE, DSATM                                        2023-24</a:t>
            </a:r>
            <a:endParaRPr lang="en-IN"/>
          </a:p>
        </p:txBody>
      </p:sp>
      <p:sp>
        <p:nvSpPr>
          <p:cNvPr id="6" name="Slide Number Placeholder 5"/>
          <p:cNvSpPr>
            <a:spLocks noGrp="1"/>
          </p:cNvSpPr>
          <p:nvPr>
            <p:ph type="sldNum" sz="quarter" idx="12"/>
          </p:nvPr>
        </p:nvSpPr>
        <p:spPr/>
        <p:txBody>
          <a:bodyPr/>
          <a:lstStyle/>
          <a:p>
            <a:fld id="{9ADF0323-AB7F-4D9C-B221-91F67350781E}" type="slidenum">
              <a:rPr lang="en-IN" altLang="en-US" smtClean="0"/>
              <a:pPr/>
              <a:t>‹#›</a:t>
            </a:fld>
            <a:endParaRPr lang="en-IN" altLang="en-US"/>
          </a:p>
        </p:txBody>
      </p:sp>
    </p:spTree>
    <p:extLst>
      <p:ext uri="{BB962C8B-B14F-4D97-AF65-F5344CB8AC3E}">
        <p14:creationId xmlns:p14="http://schemas.microsoft.com/office/powerpoint/2010/main" xmlns="" val="21809884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3B092F61-6A1A-4A06-AA61-15E7F448DD9E}" type="datetime1">
              <a:rPr lang="en-US" smtClean="0"/>
              <a:pPr>
                <a:defRPr/>
              </a:pPr>
              <a:t>1/15/2026</a:t>
            </a:fld>
            <a:endParaRPr lang="en-IN"/>
          </a:p>
        </p:txBody>
      </p:sp>
      <p:sp>
        <p:nvSpPr>
          <p:cNvPr id="5" name="Footer Placeholder 4"/>
          <p:cNvSpPr>
            <a:spLocks noGrp="1"/>
          </p:cNvSpPr>
          <p:nvPr>
            <p:ph type="ftr" sz="quarter" idx="11"/>
          </p:nvPr>
        </p:nvSpPr>
        <p:spPr/>
        <p:txBody>
          <a:bodyPr/>
          <a:lstStyle/>
          <a:p>
            <a:pPr>
              <a:defRPr/>
            </a:pPr>
            <a:r>
              <a:rPr lang="en-US"/>
              <a:t>Department of CSE, DSATM                                        2023-24</a:t>
            </a:r>
            <a:endParaRPr lang="en-IN"/>
          </a:p>
        </p:txBody>
      </p:sp>
      <p:sp>
        <p:nvSpPr>
          <p:cNvPr id="6" name="Slide Number Placeholder 5"/>
          <p:cNvSpPr>
            <a:spLocks noGrp="1"/>
          </p:cNvSpPr>
          <p:nvPr>
            <p:ph type="sldNum" sz="quarter" idx="12"/>
          </p:nvPr>
        </p:nvSpPr>
        <p:spPr/>
        <p:txBody>
          <a:bodyPr/>
          <a:lstStyle/>
          <a:p>
            <a:fld id="{A7121DC9-5B9C-4737-9E25-D9B9A51FAFA2}" type="slidenum">
              <a:rPr lang="en-IN" altLang="en-US" smtClean="0"/>
              <a:pPr/>
              <a:t>‹#›</a:t>
            </a:fld>
            <a:endParaRPr lang="en-IN" altLang="en-US"/>
          </a:p>
        </p:txBody>
      </p:sp>
    </p:spTree>
    <p:extLst>
      <p:ext uri="{BB962C8B-B14F-4D97-AF65-F5344CB8AC3E}">
        <p14:creationId xmlns:p14="http://schemas.microsoft.com/office/powerpoint/2010/main" xmlns="" val="12049174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pPr>
              <a:defRPr/>
            </a:pPr>
            <a:fld id="{E2F74F4A-8E53-43D5-BDA7-2AC92272A611}" type="datetime1">
              <a:rPr lang="en-US" smtClean="0"/>
              <a:pPr>
                <a:defRPr/>
              </a:pPr>
              <a:t>1/15/2026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pPr>
              <a:defRPr/>
            </a:pPr>
            <a:r>
              <a:rPr lang="en-US"/>
              <a:t>Department of CSE, DSATM                                        2023-24</a:t>
            </a:r>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F5D28A1E-A168-4247-B44B-25DBC2821EB4}" type="slidenum">
              <a:rPr lang="en-IN" altLang="en-US" smtClean="0"/>
              <a:pPr/>
              <a:t>‹#›</a:t>
            </a:fld>
            <a:endParaRPr lang="en-IN" alt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2917507586"/>
      </p:ext>
    </p:extLst>
  </p:cSld>
  <p:clrMap bg1="lt1" tx1="dk1" bg2="lt2" tx2="dk2" accent1="accent1" accent2="accent2" accent3="accent3" accent4="accent4" accent5="accent5" accent6="accent6" hlink="hlink" folHlink="folHlink"/>
  <p:sldLayoutIdLst>
    <p:sldLayoutId id="2147483842" r:id="rId1"/>
    <p:sldLayoutId id="2147483843" r:id="rId2"/>
    <p:sldLayoutId id="2147483844" r:id="rId3"/>
    <p:sldLayoutId id="2147483845" r:id="rId4"/>
    <p:sldLayoutId id="2147483846" r:id="rId5"/>
    <p:sldLayoutId id="2147483847" r:id="rId6"/>
    <p:sldLayoutId id="2147483848" r:id="rId7"/>
    <p:sldLayoutId id="2147483849" r:id="rId8"/>
    <p:sldLayoutId id="2147483850" r:id="rId9"/>
    <p:sldLayoutId id="2147483851" r:id="rId10"/>
    <p:sldLayoutId id="2147483852" r:id="rId11"/>
  </p:sldLayoutIdLst>
  <p:hf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GB"/>
          </a:p>
        </p:txBody>
      </p:sp>
      <p:sp>
        <p:nvSpPr>
          <p:cNvPr id="3" name="Subtitle 2"/>
          <p:cNvSpPr>
            <a:spLocks noGrp="1"/>
          </p:cNvSpPr>
          <p:nvPr>
            <p:ph type="subTitle" idx="1"/>
          </p:nvPr>
        </p:nvSpPr>
        <p:spPr/>
        <p:txBody>
          <a:bodyPr/>
          <a:lstStyle/>
          <a:p>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xmlns="" id="{295E836D-120B-4133-A704-9517BC286C2B}"/>
              </a:ext>
            </a:extLst>
          </p:cNvPr>
          <p:cNvSpPr>
            <a:spLocks noGrp="1"/>
          </p:cNvSpPr>
          <p:nvPr>
            <p:ph type="title"/>
          </p:nvPr>
        </p:nvSpPr>
        <p:spPr/>
        <p:txBody>
          <a:bodyPr>
            <a:normAutofit/>
          </a:bodyPr>
          <a:lstStyle/>
          <a:p>
            <a:r>
              <a:rPr lang="en-IN" altLang="en-US" sz="3600" b="1" dirty="0">
                <a:latin typeface="Times New Roman" pitchFamily="18" charset="0"/>
                <a:cs typeface="Times New Roman" pitchFamily="18" charset="0"/>
              </a:rPr>
              <a:t>Agenda</a:t>
            </a:r>
          </a:p>
        </p:txBody>
      </p:sp>
      <p:sp>
        <p:nvSpPr>
          <p:cNvPr id="3" name="Content Placeholder 2">
            <a:extLst>
              <a:ext uri="{FF2B5EF4-FFF2-40B4-BE49-F238E27FC236}">
                <a16:creationId xmlns:a16="http://schemas.microsoft.com/office/drawing/2014/main" xmlns="" id="{A353F5C0-BF40-448D-8510-2F597EFE4235}"/>
              </a:ext>
            </a:extLst>
          </p:cNvPr>
          <p:cNvSpPr>
            <a:spLocks noGrp="1"/>
          </p:cNvSpPr>
          <p:nvPr>
            <p:ph idx="1"/>
          </p:nvPr>
        </p:nvSpPr>
        <p:spPr>
          <a:xfrm>
            <a:off x="1097280" y="1737360"/>
            <a:ext cx="10058400" cy="4023360"/>
          </a:xfrm>
        </p:spPr>
        <p:txBody>
          <a:bodyPr rtlCol="0">
            <a:normAutofit/>
          </a:bodyPr>
          <a:lstStyle/>
          <a:p>
            <a:pPr marL="0" indent="0" fontAlgn="auto">
              <a:spcAft>
                <a:spcPts val="0"/>
              </a:spcAft>
              <a:buNone/>
              <a:defRPr/>
            </a:pPr>
            <a:r>
              <a:rPr lang="en-IN" sz="2800" dirty="0">
                <a:latin typeface="Times New Roman" pitchFamily="18" charset="0"/>
                <a:cs typeface="Times New Roman" pitchFamily="18" charset="0"/>
              </a:rPr>
              <a:t>Introduction </a:t>
            </a:r>
          </a:p>
          <a:p>
            <a:pPr marL="0" indent="0" fontAlgn="auto">
              <a:spcAft>
                <a:spcPts val="0"/>
              </a:spcAft>
              <a:buNone/>
              <a:defRPr/>
            </a:pPr>
            <a:r>
              <a:rPr lang="en-IN" sz="2800" dirty="0">
                <a:latin typeface="Times New Roman" pitchFamily="18" charset="0"/>
                <a:cs typeface="Times New Roman" pitchFamily="18" charset="0"/>
              </a:rPr>
              <a:t>Problem Statement</a:t>
            </a:r>
          </a:p>
          <a:p>
            <a:pPr marL="0" indent="0" fontAlgn="auto">
              <a:spcAft>
                <a:spcPts val="0"/>
              </a:spcAft>
              <a:buNone/>
              <a:defRPr/>
            </a:pPr>
            <a:r>
              <a:rPr lang="en-IN" sz="2800" dirty="0">
                <a:latin typeface="Times New Roman" pitchFamily="18" charset="0"/>
                <a:cs typeface="Times New Roman" pitchFamily="18" charset="0"/>
              </a:rPr>
              <a:t>Objectives</a:t>
            </a:r>
          </a:p>
          <a:p>
            <a:pPr marL="0" indent="0" fontAlgn="auto">
              <a:spcAft>
                <a:spcPts val="0"/>
              </a:spcAft>
              <a:buNone/>
              <a:defRPr/>
            </a:pPr>
            <a:r>
              <a:rPr lang="en-IN" sz="2800" dirty="0">
                <a:latin typeface="Times New Roman" pitchFamily="18" charset="0"/>
                <a:cs typeface="Times New Roman" pitchFamily="18" charset="0"/>
              </a:rPr>
              <a:t>Existing System</a:t>
            </a:r>
          </a:p>
          <a:p>
            <a:pPr marL="0" indent="0" fontAlgn="auto">
              <a:spcAft>
                <a:spcPts val="0"/>
              </a:spcAft>
              <a:buNone/>
              <a:defRPr/>
            </a:pPr>
            <a:r>
              <a:rPr lang="en-IN" sz="2800" dirty="0">
                <a:latin typeface="Times New Roman" pitchFamily="18" charset="0"/>
                <a:cs typeface="Times New Roman" pitchFamily="18" charset="0"/>
              </a:rPr>
              <a:t>Proposed System</a:t>
            </a:r>
          </a:p>
          <a:p>
            <a:pPr marL="0" indent="0" fontAlgn="auto">
              <a:spcAft>
                <a:spcPts val="0"/>
              </a:spcAft>
              <a:buNone/>
              <a:defRPr/>
            </a:pPr>
            <a:r>
              <a:rPr lang="en-IN" sz="2800" dirty="0">
                <a:latin typeface="Times New Roman" pitchFamily="18" charset="0"/>
                <a:cs typeface="Times New Roman" pitchFamily="18" charset="0"/>
              </a:rPr>
              <a:t>H/W &amp; S/W requirements</a:t>
            </a:r>
          </a:p>
          <a:p>
            <a:pPr marL="0" indent="0" fontAlgn="auto">
              <a:spcAft>
                <a:spcPts val="0"/>
              </a:spcAft>
              <a:buFont typeface="Arial" panose="020B0604020202020204" pitchFamily="34" charset="0"/>
              <a:buNone/>
              <a:defRPr/>
            </a:pPr>
            <a:endParaRPr lang="en-IN" sz="2800" dirty="0">
              <a:latin typeface="Times New Roman" pitchFamily="18" charset="0"/>
              <a:cs typeface="Times New Roman" pitchFamily="18" charset="0"/>
            </a:endParaRPr>
          </a:p>
          <a:p>
            <a:pPr fontAlgn="auto">
              <a:spcAft>
                <a:spcPts val="0"/>
              </a:spcAft>
              <a:defRPr/>
            </a:pPr>
            <a:endParaRPr lang="en-IN" sz="2800" dirty="0">
              <a:latin typeface="Times New Roman" pitchFamily="18" charset="0"/>
              <a:cs typeface="Times New Roman" pitchFamily="18" charset="0"/>
            </a:endParaRPr>
          </a:p>
          <a:p>
            <a:pPr fontAlgn="auto">
              <a:spcAft>
                <a:spcPts val="0"/>
              </a:spcAft>
              <a:defRPr/>
            </a:pPr>
            <a:endParaRPr lang="en-IN" sz="2800" dirty="0">
              <a:latin typeface="Times New Roman" pitchFamily="18" charset="0"/>
              <a:cs typeface="Times New Roman" pitchFamily="18" charset="0"/>
            </a:endParaRPr>
          </a:p>
        </p:txBody>
      </p:sp>
      <p:sp>
        <p:nvSpPr>
          <p:cNvPr id="5" name="Footer Placeholder 4"/>
          <p:cNvSpPr>
            <a:spLocks noGrp="1"/>
          </p:cNvSpPr>
          <p:nvPr>
            <p:ph type="ftr" sz="quarter" idx="11"/>
          </p:nvPr>
        </p:nvSpPr>
        <p:spPr>
          <a:xfrm>
            <a:off x="0" y="6459785"/>
            <a:ext cx="8425862" cy="365125"/>
          </a:xfrm>
        </p:spPr>
        <p:txBody>
          <a:bodyPr/>
          <a:lstStyle/>
          <a:p>
            <a:pPr algn="l">
              <a:defRPr/>
            </a:pPr>
            <a:r>
              <a:rPr lang="en-US" sz="1100" b="1" dirty="0"/>
              <a:t>Department of CSE, DSATM                                    								  2024-25</a:t>
            </a:r>
          </a:p>
          <a:p>
            <a:pPr algn="l">
              <a:defRPr/>
            </a:pPr>
            <a:endParaRPr lang="en-IN" sz="1100" b="1" dirty="0"/>
          </a:p>
        </p:txBody>
      </p:sp>
      <p:sp>
        <p:nvSpPr>
          <p:cNvPr id="6" name="Slide Number Placeholder 5"/>
          <p:cNvSpPr>
            <a:spLocks noGrp="1"/>
          </p:cNvSpPr>
          <p:nvPr>
            <p:ph type="sldNum" sz="quarter" idx="12"/>
          </p:nvPr>
        </p:nvSpPr>
        <p:spPr/>
        <p:txBody>
          <a:bodyPr/>
          <a:lstStyle/>
          <a:p>
            <a:fld id="{78093063-C89A-4436-B1EA-6FAF9DA693C7}" type="slidenum">
              <a:rPr lang="en-IN" altLang="en-US" sz="1200" b="1" smtClean="0"/>
              <a:pPr/>
              <a:t>2</a:t>
            </a:fld>
            <a:endParaRPr lang="en-IN" altLang="en-US" sz="1200" b="1" dirty="0"/>
          </a:p>
        </p:txBody>
      </p:sp>
      <p:pic>
        <p:nvPicPr>
          <p:cNvPr id="2" name="Picture 1" descr="https://lh4.googleusercontent.com/4n19eN9s8Hjb3yAHumQXQJz--2HFF4XEFZxHwFTdnahykXPckLf3RjipZ9EaERLLL1Yj5HIRKctgoaq5Hhpck1lfb6Ur2VF2-hSQeLtA9AfpfJVSNt2AEP6XhybwZJnkit8aP7OqbnUvb-dnbiuuXKkhFlgT64xD7be7Ws4w31Qrn9p8S62IyD5H">
            <a:extLst>
              <a:ext uri="{FF2B5EF4-FFF2-40B4-BE49-F238E27FC236}">
                <a16:creationId xmlns:a16="http://schemas.microsoft.com/office/drawing/2014/main" xmlns="" id="{46DEE74B-1E88-D639-94A5-7673C03F4737}"/>
              </a:ext>
            </a:extLst>
          </p:cNvPr>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1055928" y="148028"/>
            <a:ext cx="950026" cy="8257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xmlns="" id="{77C67C3E-47D3-44B7-A3F3-C569D2D6AE0A}"/>
              </a:ext>
            </a:extLst>
          </p:cNvPr>
          <p:cNvSpPr>
            <a:spLocks noGrp="1"/>
          </p:cNvSpPr>
          <p:nvPr>
            <p:ph type="title"/>
          </p:nvPr>
        </p:nvSpPr>
        <p:spPr/>
        <p:txBody>
          <a:bodyPr>
            <a:normAutofit/>
          </a:bodyPr>
          <a:lstStyle/>
          <a:p>
            <a:r>
              <a:rPr lang="en-IN" altLang="en-US" sz="3600" b="1" dirty="0">
                <a:latin typeface="Times New Roman" pitchFamily="18" charset="0"/>
                <a:cs typeface="Times New Roman" pitchFamily="18" charset="0"/>
              </a:rPr>
              <a:t>Introduction</a:t>
            </a:r>
          </a:p>
        </p:txBody>
      </p:sp>
      <p:sp>
        <p:nvSpPr>
          <p:cNvPr id="6147" name="Content Placeholder 2">
            <a:extLst>
              <a:ext uri="{FF2B5EF4-FFF2-40B4-BE49-F238E27FC236}">
                <a16:creationId xmlns:a16="http://schemas.microsoft.com/office/drawing/2014/main" xmlns="" id="{5570FA58-6981-4FDA-BA65-69C95BDCDF42}"/>
              </a:ext>
            </a:extLst>
          </p:cNvPr>
          <p:cNvSpPr>
            <a:spLocks noGrp="1"/>
          </p:cNvSpPr>
          <p:nvPr>
            <p:ph idx="1"/>
          </p:nvPr>
        </p:nvSpPr>
        <p:spPr/>
        <p:txBody>
          <a:bodyPr>
            <a:normAutofit/>
          </a:bodyPr>
          <a:lstStyle/>
          <a:p>
            <a:r>
              <a:rPr lang="en-GB" altLang="en-US" sz="2400" b="1" dirty="0" smtClean="0">
                <a:latin typeface="Times New Roman" panose="02020603050405020304" pitchFamily="18" charset="0"/>
                <a:cs typeface="Times New Roman" panose="02020603050405020304" pitchFamily="18" charset="0"/>
              </a:rPr>
              <a:t>Domain Overview</a:t>
            </a:r>
          </a:p>
          <a:p>
            <a:pPr marL="457200" indent="-457200">
              <a:buFont typeface="Wingdings" pitchFamily="2" charset="2"/>
              <a:buChar char="Ø"/>
            </a:pPr>
            <a:r>
              <a:rPr lang="en-GB" altLang="en-US" dirty="0" smtClean="0">
                <a:latin typeface="Times New Roman" panose="02020603050405020304" pitchFamily="18" charset="0"/>
                <a:cs typeface="Times New Roman" panose="02020603050405020304" pitchFamily="18" charset="0"/>
              </a:rPr>
              <a:t>The </a:t>
            </a:r>
            <a:r>
              <a:rPr lang="en-GB" altLang="en-US" dirty="0" smtClean="0">
                <a:latin typeface="Times New Roman" panose="02020603050405020304" pitchFamily="18" charset="0"/>
                <a:cs typeface="Times New Roman" panose="02020603050405020304" pitchFamily="18" charset="0"/>
              </a:rPr>
              <a:t>rapid growth of digital transactions has increased the risk of fraudulent and anomalous activities</a:t>
            </a:r>
            <a:r>
              <a:rPr lang="en-GB" altLang="en-US" dirty="0" smtClean="0">
                <a:latin typeface="Times New Roman" panose="02020603050405020304" pitchFamily="18" charset="0"/>
                <a:cs typeface="Times New Roman" panose="02020603050405020304" pitchFamily="18" charset="0"/>
              </a:rPr>
              <a:t>.</a:t>
            </a:r>
          </a:p>
          <a:p>
            <a:pPr marL="457200" indent="-457200">
              <a:buFont typeface="Wingdings" pitchFamily="2" charset="2"/>
              <a:buChar char="Ø"/>
            </a:pPr>
            <a:r>
              <a:rPr lang="en-GB" altLang="en-US" dirty="0" smtClean="0">
                <a:latin typeface="Times New Roman" panose="02020603050405020304" pitchFamily="18" charset="0"/>
                <a:cs typeface="Times New Roman" panose="02020603050405020304" pitchFamily="18" charset="0"/>
              </a:rPr>
              <a:t>Financial </a:t>
            </a:r>
            <a:r>
              <a:rPr lang="en-GB" altLang="en-US" dirty="0" smtClean="0">
                <a:latin typeface="Times New Roman" panose="02020603050405020304" pitchFamily="18" charset="0"/>
                <a:cs typeface="Times New Roman" panose="02020603050405020304" pitchFamily="18" charset="0"/>
              </a:rPr>
              <a:t>institutions process millions of transactions daily, making manual monitoring impractical</a:t>
            </a:r>
            <a:r>
              <a:rPr lang="en-GB" altLang="en-US" dirty="0" smtClean="0">
                <a:latin typeface="Times New Roman" panose="02020603050405020304" pitchFamily="18" charset="0"/>
                <a:cs typeface="Times New Roman" panose="02020603050405020304" pitchFamily="18" charset="0"/>
              </a:rPr>
              <a:t>.</a:t>
            </a:r>
          </a:p>
          <a:p>
            <a:pPr marL="457200" indent="-457200">
              <a:buFont typeface="Wingdings" pitchFamily="2" charset="2"/>
              <a:buChar char="Ø"/>
            </a:pPr>
            <a:r>
              <a:rPr lang="en-GB" altLang="en-US" dirty="0" smtClean="0">
                <a:latin typeface="Times New Roman" panose="02020603050405020304" pitchFamily="18" charset="0"/>
                <a:cs typeface="Times New Roman" panose="02020603050405020304" pitchFamily="18" charset="0"/>
              </a:rPr>
              <a:t>Anomaly </a:t>
            </a:r>
            <a:r>
              <a:rPr lang="en-GB" altLang="en-US" dirty="0" smtClean="0">
                <a:latin typeface="Times New Roman" panose="02020603050405020304" pitchFamily="18" charset="0"/>
                <a:cs typeface="Times New Roman" panose="02020603050405020304" pitchFamily="18" charset="0"/>
              </a:rPr>
              <a:t>detection focuses on identifying unusual transaction patterns that deviate from normal </a:t>
            </a:r>
            <a:r>
              <a:rPr lang="en-GB" altLang="en-US" dirty="0" err="1" smtClean="0">
                <a:latin typeface="Times New Roman" panose="02020603050405020304" pitchFamily="18" charset="0"/>
                <a:cs typeface="Times New Roman" panose="02020603050405020304" pitchFamily="18" charset="0"/>
              </a:rPr>
              <a:t>behavior</a:t>
            </a:r>
            <a:r>
              <a:rPr lang="en-GB" altLang="en-US" dirty="0" smtClean="0">
                <a:latin typeface="Times New Roman" panose="02020603050405020304" pitchFamily="18" charset="0"/>
                <a:cs typeface="Times New Roman" panose="02020603050405020304" pitchFamily="18" charset="0"/>
              </a:rPr>
              <a:t>.</a:t>
            </a:r>
          </a:p>
          <a:p>
            <a:pPr marL="457200" indent="-457200">
              <a:buFont typeface="Wingdings" pitchFamily="2" charset="2"/>
              <a:buChar char="Ø"/>
            </a:pPr>
            <a:r>
              <a:rPr lang="en-GB" altLang="en-US" dirty="0" smtClean="0">
                <a:latin typeface="Times New Roman" panose="02020603050405020304" pitchFamily="18" charset="0"/>
                <a:cs typeface="Times New Roman" panose="02020603050405020304" pitchFamily="18" charset="0"/>
              </a:rPr>
              <a:t>Automated </a:t>
            </a:r>
            <a:r>
              <a:rPr lang="en-GB" altLang="en-US" dirty="0" smtClean="0">
                <a:latin typeface="Times New Roman" panose="02020603050405020304" pitchFamily="18" charset="0"/>
                <a:cs typeface="Times New Roman" panose="02020603050405020304" pitchFamily="18" charset="0"/>
              </a:rPr>
              <a:t>monitoring systems help in early detection of fraud and security breaches.</a:t>
            </a:r>
            <a:endParaRPr lang="en-IN" altLang="en-US" dirty="0">
              <a:latin typeface="Times New Roman" panose="02020603050405020304" pitchFamily="18" charset="0"/>
              <a:cs typeface="Times New Roman" panose="02020603050405020304" pitchFamily="18" charset="0"/>
            </a:endParaRPr>
          </a:p>
          <a:p>
            <a:endParaRPr lang="en-IN" altLang="en-US" dirty="0">
              <a:latin typeface="Times New Roman" panose="02020603050405020304" pitchFamily="18" charset="0"/>
              <a:cs typeface="Times New Roman" panose="02020603050405020304" pitchFamily="18" charset="0"/>
            </a:endParaRPr>
          </a:p>
          <a:p>
            <a:endParaRPr lang="en-IN" altLang="en-US" dirty="0">
              <a:latin typeface="Times New Roman" panose="02020603050405020304" pitchFamily="18" charset="0"/>
              <a:cs typeface="Times New Roman" panose="02020603050405020304" pitchFamily="18" charset="0"/>
            </a:endParaRPr>
          </a:p>
          <a:p>
            <a:endParaRPr lang="en-IN" altLang="en-US" dirty="0">
              <a:latin typeface="Times New Roman" panose="02020603050405020304" pitchFamily="18" charset="0"/>
              <a:cs typeface="Times New Roman" panose="02020603050405020304" pitchFamily="18" charset="0"/>
            </a:endParaRPr>
          </a:p>
          <a:p>
            <a:endParaRPr lang="en-IN" altLang="en-US" dirty="0">
              <a:latin typeface="Times New Roman" panose="02020603050405020304" pitchFamily="18" charset="0"/>
              <a:cs typeface="Times New Roman" panose="02020603050405020304" pitchFamily="18" charset="0"/>
            </a:endParaRPr>
          </a:p>
          <a:p>
            <a:endParaRPr lang="en-IN" altLang="en-US" dirty="0">
              <a:latin typeface="Times New Roman" panose="02020603050405020304" pitchFamily="18" charset="0"/>
              <a:cs typeface="Times New Roman" panose="02020603050405020304" pitchFamily="18" charset="0"/>
            </a:endParaRPr>
          </a:p>
          <a:p>
            <a:endParaRPr lang="en-IN" altLang="en-US" dirty="0">
              <a:latin typeface="Times New Roman" panose="02020603050405020304" pitchFamily="18" charset="0"/>
              <a:cs typeface="Times New Roman" panose="02020603050405020304" pitchFamily="18" charset="0"/>
            </a:endParaRPr>
          </a:p>
          <a:p>
            <a:endParaRPr lang="en-IN" altLang="en-US" dirty="0">
              <a:latin typeface="Times New Roman" panose="02020603050405020304" pitchFamily="18" charset="0"/>
              <a:cs typeface="Times New Roman" panose="02020603050405020304" pitchFamily="18" charset="0"/>
            </a:endParaRPr>
          </a:p>
          <a:p>
            <a:endParaRPr lang="en-IN" altLang="en-US" dirty="0">
              <a:latin typeface="Times New Roman" panose="02020603050405020304" pitchFamily="18" charset="0"/>
              <a:cs typeface="Times New Roman" panose="02020603050405020304" pitchFamily="18" charset="0"/>
            </a:endParaRPr>
          </a:p>
        </p:txBody>
      </p:sp>
      <p:sp>
        <p:nvSpPr>
          <p:cNvPr id="5" name="Footer Placeholder 4"/>
          <p:cNvSpPr>
            <a:spLocks noGrp="1"/>
          </p:cNvSpPr>
          <p:nvPr>
            <p:ph type="ftr" sz="quarter" idx="11"/>
          </p:nvPr>
        </p:nvSpPr>
        <p:spPr>
          <a:xfrm>
            <a:off x="106878" y="6459785"/>
            <a:ext cx="8402111" cy="365125"/>
          </a:xfrm>
        </p:spPr>
        <p:txBody>
          <a:bodyPr/>
          <a:lstStyle/>
          <a:p>
            <a:pPr>
              <a:defRPr/>
            </a:pPr>
            <a:r>
              <a:rPr lang="en-US" sz="1100" b="1" dirty="0"/>
              <a:t>Department of CSE, DSATM                                                                                                                              2024-25</a:t>
            </a:r>
            <a:endParaRPr lang="en-IN" sz="1100" b="1" dirty="0"/>
          </a:p>
        </p:txBody>
      </p:sp>
      <p:sp>
        <p:nvSpPr>
          <p:cNvPr id="6" name="Slide Number Placeholder 5"/>
          <p:cNvSpPr>
            <a:spLocks noGrp="1"/>
          </p:cNvSpPr>
          <p:nvPr>
            <p:ph type="sldNum" sz="quarter" idx="12"/>
          </p:nvPr>
        </p:nvSpPr>
        <p:spPr/>
        <p:txBody>
          <a:bodyPr/>
          <a:lstStyle/>
          <a:p>
            <a:fld id="{78093063-C89A-4436-B1EA-6FAF9DA693C7}" type="slidenum">
              <a:rPr lang="en-IN" altLang="en-US" sz="1100" b="1" smtClean="0"/>
              <a:pPr/>
              <a:t>3</a:t>
            </a:fld>
            <a:endParaRPr lang="en-IN" altLang="en-US" sz="1100" b="1" dirty="0"/>
          </a:p>
        </p:txBody>
      </p:sp>
      <p:pic>
        <p:nvPicPr>
          <p:cNvPr id="3" name="Picture 2" descr="https://lh4.googleusercontent.com/4n19eN9s8Hjb3yAHumQXQJz--2HFF4XEFZxHwFTdnahykXPckLf3RjipZ9EaERLLL1Yj5HIRKctgoaq5Hhpck1lfb6Ur2VF2-hSQeLtA9AfpfJVSNt2AEP6XhybwZJnkit8aP7OqbnUvb-dnbiuuXKkhFlgT64xD7be7Ws4w31Qrn9p8S62IyD5H">
            <a:extLst>
              <a:ext uri="{FF2B5EF4-FFF2-40B4-BE49-F238E27FC236}">
                <a16:creationId xmlns:a16="http://schemas.microsoft.com/office/drawing/2014/main" xmlns="" id="{1B8C4BFF-6F92-BCBE-66F6-D64F1D921E62}"/>
              </a:ext>
            </a:extLst>
          </p:cNvPr>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1055928" y="148028"/>
            <a:ext cx="950026" cy="8257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1449038-CBC8-3451-2EFA-BEB79458928E}"/>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xmlns="" id="{E8D9DA92-13E3-D97F-2235-2791BDEC6675}"/>
              </a:ext>
            </a:extLst>
          </p:cNvPr>
          <p:cNvSpPr>
            <a:spLocks noGrp="1"/>
          </p:cNvSpPr>
          <p:nvPr>
            <p:ph type="title"/>
          </p:nvPr>
        </p:nvSpPr>
        <p:spPr/>
        <p:txBody>
          <a:bodyPr>
            <a:normAutofit/>
          </a:bodyPr>
          <a:lstStyle/>
          <a:p>
            <a:r>
              <a:rPr lang="en-IN" altLang="en-US" sz="3600" b="1" dirty="0">
                <a:latin typeface="Times New Roman" pitchFamily="18" charset="0"/>
                <a:cs typeface="Times New Roman" pitchFamily="18" charset="0"/>
              </a:rPr>
              <a:t>Introduction</a:t>
            </a:r>
          </a:p>
        </p:txBody>
      </p:sp>
      <p:sp>
        <p:nvSpPr>
          <p:cNvPr id="6147" name="Content Placeholder 2">
            <a:extLst>
              <a:ext uri="{FF2B5EF4-FFF2-40B4-BE49-F238E27FC236}">
                <a16:creationId xmlns:a16="http://schemas.microsoft.com/office/drawing/2014/main" xmlns="" id="{CC8A8245-BDD7-FAE8-103C-FAF4A28B5F48}"/>
              </a:ext>
            </a:extLst>
          </p:cNvPr>
          <p:cNvSpPr>
            <a:spLocks noGrp="1"/>
          </p:cNvSpPr>
          <p:nvPr>
            <p:ph idx="1"/>
          </p:nvPr>
        </p:nvSpPr>
        <p:spPr/>
        <p:txBody>
          <a:bodyPr>
            <a:normAutofit/>
          </a:bodyPr>
          <a:lstStyle/>
          <a:p>
            <a:pPr>
              <a:buNone/>
            </a:pPr>
            <a:r>
              <a:rPr lang="en-IN" altLang="en-US" sz="2400" b="1" dirty="0" smtClean="0">
                <a:latin typeface="Times New Roman" panose="02020603050405020304" pitchFamily="18" charset="0"/>
                <a:cs typeface="Times New Roman" panose="02020603050405020304" pitchFamily="18" charset="0"/>
              </a:rPr>
              <a:t>Technology </a:t>
            </a:r>
            <a:r>
              <a:rPr lang="en-IN" altLang="en-US" sz="2400" b="1" dirty="0" smtClean="0">
                <a:latin typeface="Times New Roman" panose="02020603050405020304" pitchFamily="18" charset="0"/>
                <a:cs typeface="Times New Roman" panose="02020603050405020304" pitchFamily="18" charset="0"/>
              </a:rPr>
              <a:t>Perspective</a:t>
            </a:r>
          </a:p>
          <a:p>
            <a:pPr>
              <a:buFont typeface="Wingdings" pitchFamily="2" charset="2"/>
              <a:buChar char="Ø"/>
            </a:pPr>
            <a:r>
              <a:rPr lang="en-IN" altLang="en-US" dirty="0" smtClean="0">
                <a:latin typeface="Times New Roman" panose="02020603050405020304" pitchFamily="18" charset="0"/>
                <a:cs typeface="Times New Roman" panose="02020603050405020304" pitchFamily="18" charset="0"/>
              </a:rPr>
              <a:t>Anomaly </a:t>
            </a:r>
            <a:r>
              <a:rPr lang="en-IN" altLang="en-US" dirty="0" smtClean="0">
                <a:latin typeface="Times New Roman" panose="02020603050405020304" pitchFamily="18" charset="0"/>
                <a:cs typeface="Times New Roman" panose="02020603050405020304" pitchFamily="18" charset="0"/>
              </a:rPr>
              <a:t>Aware Transaction Monitoring uses data analytics and machine learning techniques</a:t>
            </a:r>
            <a:r>
              <a:rPr lang="en-IN" altLang="en-US" dirty="0" smtClean="0">
                <a:latin typeface="Times New Roman" panose="02020603050405020304" pitchFamily="18" charset="0"/>
                <a:cs typeface="Times New Roman" panose="02020603050405020304" pitchFamily="18" charset="0"/>
              </a:rPr>
              <a:t>.</a:t>
            </a:r>
          </a:p>
          <a:p>
            <a:pPr>
              <a:buFont typeface="Wingdings" pitchFamily="2" charset="2"/>
              <a:buChar char="Ø"/>
            </a:pPr>
            <a:r>
              <a:rPr lang="en-IN" altLang="en-US" dirty="0" smtClean="0">
                <a:latin typeface="Times New Roman" panose="02020603050405020304" pitchFamily="18" charset="0"/>
                <a:cs typeface="Times New Roman" panose="02020603050405020304" pitchFamily="18" charset="0"/>
              </a:rPr>
              <a:t>It </a:t>
            </a:r>
            <a:r>
              <a:rPr lang="en-IN" altLang="en-US" dirty="0" smtClean="0">
                <a:latin typeface="Times New Roman" panose="02020603050405020304" pitchFamily="18" charset="0"/>
                <a:cs typeface="Times New Roman" panose="02020603050405020304" pitchFamily="18" charset="0"/>
              </a:rPr>
              <a:t>analyzes transaction attributes such as amount, frequency, location, and time</a:t>
            </a:r>
            <a:r>
              <a:rPr lang="en-IN" altLang="en-US" dirty="0" smtClean="0">
                <a:latin typeface="Times New Roman" panose="02020603050405020304" pitchFamily="18" charset="0"/>
                <a:cs typeface="Times New Roman" panose="02020603050405020304" pitchFamily="18" charset="0"/>
              </a:rPr>
              <a:t>.</a:t>
            </a:r>
          </a:p>
          <a:p>
            <a:pPr>
              <a:buFont typeface="Wingdings" pitchFamily="2" charset="2"/>
              <a:buChar char="Ø"/>
            </a:pPr>
            <a:r>
              <a:rPr lang="en-IN" altLang="en-US" dirty="0" smtClean="0">
                <a:latin typeface="Times New Roman" panose="02020603050405020304" pitchFamily="18" charset="0"/>
                <a:cs typeface="Times New Roman" panose="02020603050405020304" pitchFamily="18" charset="0"/>
              </a:rPr>
              <a:t>Real-time </a:t>
            </a:r>
            <a:r>
              <a:rPr lang="en-IN" altLang="en-US" dirty="0" smtClean="0">
                <a:latin typeface="Times New Roman" panose="02020603050405020304" pitchFamily="18" charset="0"/>
                <a:cs typeface="Times New Roman" panose="02020603050405020304" pitchFamily="18" charset="0"/>
              </a:rPr>
              <a:t>monitoring improves response time to suspicious activities</a:t>
            </a:r>
            <a:r>
              <a:rPr lang="en-IN" altLang="en-US" dirty="0" smtClean="0">
                <a:latin typeface="Times New Roman" panose="02020603050405020304" pitchFamily="18" charset="0"/>
                <a:cs typeface="Times New Roman" panose="02020603050405020304" pitchFamily="18" charset="0"/>
              </a:rPr>
              <a:t>.</a:t>
            </a:r>
          </a:p>
          <a:p>
            <a:pPr>
              <a:buFont typeface="Wingdings" pitchFamily="2" charset="2"/>
              <a:buChar char="Ø"/>
            </a:pPr>
            <a:r>
              <a:rPr lang="en-IN" altLang="en-US" dirty="0" smtClean="0">
                <a:latin typeface="Times New Roman" panose="02020603050405020304" pitchFamily="18" charset="0"/>
                <a:cs typeface="Times New Roman" panose="02020603050405020304" pitchFamily="18" charset="0"/>
              </a:rPr>
              <a:t>The </a:t>
            </a:r>
            <a:r>
              <a:rPr lang="en-IN" altLang="en-US" dirty="0" smtClean="0">
                <a:latin typeface="Times New Roman" panose="02020603050405020304" pitchFamily="18" charset="0"/>
                <a:cs typeface="Times New Roman" panose="02020603050405020304" pitchFamily="18" charset="0"/>
              </a:rPr>
              <a:t>system enhances trust, security, and reliability in digital financial systems.</a:t>
            </a:r>
            <a:endParaRPr lang="en-IN" altLang="en-US"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xmlns="" id="{95E29B75-B52D-CFDF-C747-D66A18B699D2}"/>
              </a:ext>
            </a:extLst>
          </p:cNvPr>
          <p:cNvSpPr>
            <a:spLocks noGrp="1"/>
          </p:cNvSpPr>
          <p:nvPr>
            <p:ph type="ftr" sz="quarter" idx="11"/>
          </p:nvPr>
        </p:nvSpPr>
        <p:spPr>
          <a:xfrm>
            <a:off x="106878" y="6459785"/>
            <a:ext cx="8402111" cy="365125"/>
          </a:xfrm>
        </p:spPr>
        <p:txBody>
          <a:bodyPr/>
          <a:lstStyle/>
          <a:p>
            <a:pPr>
              <a:defRPr/>
            </a:pPr>
            <a:r>
              <a:rPr lang="en-US" sz="1100" b="1" dirty="0"/>
              <a:t>Department of CSE, DSATM                                                                                                                              2024-25</a:t>
            </a:r>
            <a:endParaRPr lang="en-IN" sz="1100" b="1" dirty="0"/>
          </a:p>
        </p:txBody>
      </p:sp>
      <p:sp>
        <p:nvSpPr>
          <p:cNvPr id="6" name="Slide Number Placeholder 5">
            <a:extLst>
              <a:ext uri="{FF2B5EF4-FFF2-40B4-BE49-F238E27FC236}">
                <a16:creationId xmlns:a16="http://schemas.microsoft.com/office/drawing/2014/main" xmlns="" id="{FADB6A3E-2034-7D14-4771-CDC767FD1743}"/>
              </a:ext>
            </a:extLst>
          </p:cNvPr>
          <p:cNvSpPr>
            <a:spLocks noGrp="1"/>
          </p:cNvSpPr>
          <p:nvPr>
            <p:ph type="sldNum" sz="quarter" idx="12"/>
          </p:nvPr>
        </p:nvSpPr>
        <p:spPr/>
        <p:txBody>
          <a:bodyPr/>
          <a:lstStyle/>
          <a:p>
            <a:fld id="{78093063-C89A-4436-B1EA-6FAF9DA693C7}" type="slidenum">
              <a:rPr lang="en-IN" altLang="en-US" sz="1100" b="1" smtClean="0"/>
              <a:pPr/>
              <a:t>4</a:t>
            </a:fld>
            <a:endParaRPr lang="en-IN" altLang="en-US" sz="1100" b="1" dirty="0"/>
          </a:p>
        </p:txBody>
      </p:sp>
      <p:pic>
        <p:nvPicPr>
          <p:cNvPr id="3" name="Picture 2" descr="https://lh4.googleusercontent.com/4n19eN9s8Hjb3yAHumQXQJz--2HFF4XEFZxHwFTdnahykXPckLf3RjipZ9EaERLLL1Yj5HIRKctgoaq5Hhpck1lfb6Ur2VF2-hSQeLtA9AfpfJVSNt2AEP6XhybwZJnkit8aP7OqbnUvb-dnbiuuXKkhFlgT64xD7be7Ws4w31Qrn9p8S62IyD5H">
            <a:extLst>
              <a:ext uri="{FF2B5EF4-FFF2-40B4-BE49-F238E27FC236}">
                <a16:creationId xmlns:a16="http://schemas.microsoft.com/office/drawing/2014/main" xmlns="" id="{B0CF0F21-2EA8-9F32-A39A-1F3A14A3CB8B}"/>
              </a:ext>
            </a:extLst>
          </p:cNvPr>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1055928" y="148028"/>
            <a:ext cx="950026" cy="825750"/>
          </a:xfrm>
          <a:prstGeom prst="rect">
            <a:avLst/>
          </a:prstGeom>
          <a:noFill/>
          <a:ln>
            <a:noFill/>
          </a:ln>
        </p:spPr>
      </p:pic>
    </p:spTree>
    <p:extLst>
      <p:ext uri="{BB962C8B-B14F-4D97-AF65-F5344CB8AC3E}">
        <p14:creationId xmlns:p14="http://schemas.microsoft.com/office/powerpoint/2010/main" xmlns="" val="4169594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xmlns="" id="{60AB8C37-208C-4D4D-927A-0147CDB5190B}"/>
              </a:ext>
            </a:extLst>
          </p:cNvPr>
          <p:cNvSpPr>
            <a:spLocks noGrp="1"/>
          </p:cNvSpPr>
          <p:nvPr>
            <p:ph type="title"/>
          </p:nvPr>
        </p:nvSpPr>
        <p:spPr/>
        <p:txBody>
          <a:bodyPr>
            <a:normAutofit/>
          </a:bodyPr>
          <a:lstStyle/>
          <a:p>
            <a:r>
              <a:rPr lang="en-IN" altLang="en-US" sz="3600" b="1" dirty="0">
                <a:latin typeface="Times New Roman" pitchFamily="18" charset="0"/>
                <a:cs typeface="Times New Roman" pitchFamily="18" charset="0"/>
              </a:rPr>
              <a:t>Problem Statement</a:t>
            </a:r>
          </a:p>
        </p:txBody>
      </p:sp>
      <p:sp>
        <p:nvSpPr>
          <p:cNvPr id="3" name="Content Placeholder 2">
            <a:extLst>
              <a:ext uri="{FF2B5EF4-FFF2-40B4-BE49-F238E27FC236}">
                <a16:creationId xmlns:a16="http://schemas.microsoft.com/office/drawing/2014/main" xmlns="" id="{8CCC0066-C72D-47AB-88BB-A2D75D6EB984}"/>
              </a:ext>
            </a:extLst>
          </p:cNvPr>
          <p:cNvSpPr>
            <a:spLocks noGrp="1"/>
          </p:cNvSpPr>
          <p:nvPr>
            <p:ph idx="1"/>
          </p:nvPr>
        </p:nvSpPr>
        <p:spPr/>
        <p:txBody>
          <a:bodyPr rtlCol="0">
            <a:normAutofit/>
          </a:bodyPr>
          <a:lstStyle/>
          <a:p>
            <a:pPr marL="0" indent="0" algn="just" fontAlgn="auto">
              <a:lnSpc>
                <a:spcPct val="150000"/>
              </a:lnSpc>
              <a:spcAft>
                <a:spcPts val="0"/>
              </a:spcAft>
              <a:buFont typeface="Arial" panose="020B0604020202020204" pitchFamily="34" charset="0"/>
              <a:buNone/>
              <a:defRPr/>
            </a:pPr>
            <a:r>
              <a:rPr lang="en-US" dirty="0">
                <a:latin typeface="Times New Roman" panose="02020603050405020304" pitchFamily="18" charset="0"/>
                <a:cs typeface="Times New Roman" panose="02020603050405020304" pitchFamily="18" charset="0"/>
              </a:rPr>
              <a:t> </a:t>
            </a:r>
            <a:r>
              <a:rPr lang="en-GB" dirty="0" smtClean="0">
                <a:latin typeface="Times New Roman" panose="02020603050405020304" pitchFamily="18" charset="0"/>
                <a:cs typeface="Times New Roman" panose="02020603050405020304" pitchFamily="18" charset="0"/>
              </a:rPr>
              <a:t>With </a:t>
            </a:r>
            <a:r>
              <a:rPr lang="en-GB" dirty="0" smtClean="0">
                <a:latin typeface="Times New Roman" panose="02020603050405020304" pitchFamily="18" charset="0"/>
                <a:cs typeface="Times New Roman" panose="02020603050405020304" pitchFamily="18" charset="0"/>
              </a:rPr>
              <a:t>the increasing adoption of online banking, digital payments, and e-commerce platforms, the volume of financial transactions has grown exponentially, making traditional rule-based monitoring systems insufficient to detect sophisticated fraudulent activities. Many existing systems fail to identify complex and evolving transaction anomalies in real time, leading to financial losses and security risks. There is a critical need for an intelligent anomaly-aware transaction monitoring system that can automatically analyze transaction patterns, detect abnormal </a:t>
            </a:r>
            <a:r>
              <a:rPr lang="en-GB" dirty="0" err="1" smtClean="0">
                <a:latin typeface="Times New Roman" panose="02020603050405020304" pitchFamily="18" charset="0"/>
                <a:cs typeface="Times New Roman" panose="02020603050405020304" pitchFamily="18" charset="0"/>
              </a:rPr>
              <a:t>behavior</a:t>
            </a:r>
            <a:r>
              <a:rPr lang="en-GB" dirty="0" smtClean="0">
                <a:latin typeface="Times New Roman" panose="02020603050405020304" pitchFamily="18" charset="0"/>
                <a:cs typeface="Times New Roman" panose="02020603050405020304" pitchFamily="18" charset="0"/>
              </a:rPr>
              <a:t>, and alert stakeholders promptly. Such a system should improve accuracy, reduce false positives, and enhance overall transaction security while ensuring scalability and efficiency.</a:t>
            </a:r>
            <a:endParaRPr lang="en-IN" dirty="0">
              <a:latin typeface="Times New Roman" panose="02020603050405020304" pitchFamily="18" charset="0"/>
              <a:cs typeface="Times New Roman" panose="02020603050405020304" pitchFamily="18" charset="0"/>
            </a:endParaRPr>
          </a:p>
        </p:txBody>
      </p:sp>
      <p:sp>
        <p:nvSpPr>
          <p:cNvPr id="5" name="Footer Placeholder 4"/>
          <p:cNvSpPr>
            <a:spLocks noGrp="1"/>
          </p:cNvSpPr>
          <p:nvPr>
            <p:ph type="ftr" sz="quarter" idx="11"/>
          </p:nvPr>
        </p:nvSpPr>
        <p:spPr>
          <a:xfrm>
            <a:off x="178130" y="6426303"/>
            <a:ext cx="8318984" cy="398215"/>
          </a:xfrm>
        </p:spPr>
        <p:txBody>
          <a:bodyPr/>
          <a:lstStyle/>
          <a:p>
            <a:pPr algn="l">
              <a:defRPr/>
            </a:pPr>
            <a:r>
              <a:rPr lang="en-US" sz="1100" b="1" dirty="0"/>
              <a:t>Department of CSE, DSATM                                                                                                                                2024-25</a:t>
            </a:r>
            <a:endParaRPr lang="en-IN" sz="1100" b="1" dirty="0"/>
          </a:p>
        </p:txBody>
      </p:sp>
      <p:sp>
        <p:nvSpPr>
          <p:cNvPr id="6" name="Slide Number Placeholder 5"/>
          <p:cNvSpPr>
            <a:spLocks noGrp="1"/>
          </p:cNvSpPr>
          <p:nvPr>
            <p:ph type="sldNum" sz="quarter" idx="12"/>
          </p:nvPr>
        </p:nvSpPr>
        <p:spPr/>
        <p:txBody>
          <a:bodyPr/>
          <a:lstStyle/>
          <a:p>
            <a:fld id="{78093063-C89A-4436-B1EA-6FAF9DA693C7}" type="slidenum">
              <a:rPr lang="en-IN" altLang="en-US" sz="1100" smtClean="0"/>
              <a:pPr/>
              <a:t>5</a:t>
            </a:fld>
            <a:endParaRPr lang="en-IN" altLang="en-US" sz="1100"/>
          </a:p>
        </p:txBody>
      </p:sp>
      <p:pic>
        <p:nvPicPr>
          <p:cNvPr id="4" name="Picture 3" descr="https://lh4.googleusercontent.com/4n19eN9s8Hjb3yAHumQXQJz--2HFF4XEFZxHwFTdnahykXPckLf3RjipZ9EaERLLL1Yj5HIRKctgoaq5Hhpck1lfb6Ur2VF2-hSQeLtA9AfpfJVSNt2AEP6XhybwZJnkit8aP7OqbnUvb-dnbiuuXKkhFlgT64xD7be7Ws4w31Qrn9p8S62IyD5H">
            <a:extLst>
              <a:ext uri="{FF2B5EF4-FFF2-40B4-BE49-F238E27FC236}">
                <a16:creationId xmlns:a16="http://schemas.microsoft.com/office/drawing/2014/main" xmlns="" id="{6A02EE35-B683-34EE-2D61-A0EDAC053623}"/>
              </a:ext>
            </a:extLst>
          </p:cNvPr>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1055928" y="148028"/>
            <a:ext cx="950026" cy="8257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xmlns="" id="{484374DD-CFB4-4FE9-822D-048D88DA5A2C}"/>
              </a:ext>
            </a:extLst>
          </p:cNvPr>
          <p:cNvSpPr>
            <a:spLocks noGrp="1"/>
          </p:cNvSpPr>
          <p:nvPr>
            <p:ph type="title"/>
          </p:nvPr>
        </p:nvSpPr>
        <p:spPr/>
        <p:txBody>
          <a:bodyPr>
            <a:normAutofit/>
          </a:bodyPr>
          <a:lstStyle/>
          <a:p>
            <a:r>
              <a:rPr lang="en-IN" altLang="en-US" sz="3600" b="1" dirty="0">
                <a:latin typeface="Times New Roman" pitchFamily="18" charset="0"/>
                <a:cs typeface="Times New Roman" pitchFamily="18" charset="0"/>
              </a:rPr>
              <a:t>Objectives </a:t>
            </a:r>
          </a:p>
        </p:txBody>
      </p:sp>
      <p:sp>
        <p:nvSpPr>
          <p:cNvPr id="8195" name="Content Placeholder 2">
            <a:extLst>
              <a:ext uri="{FF2B5EF4-FFF2-40B4-BE49-F238E27FC236}">
                <a16:creationId xmlns:a16="http://schemas.microsoft.com/office/drawing/2014/main" xmlns="" id="{8AE8CCE6-F8E1-4D64-9900-65F74C0006C0}"/>
              </a:ext>
            </a:extLst>
          </p:cNvPr>
          <p:cNvSpPr>
            <a:spLocks noGrp="1"/>
          </p:cNvSpPr>
          <p:nvPr>
            <p:ph idx="1"/>
          </p:nvPr>
        </p:nvSpPr>
        <p:spPr/>
        <p:txBody>
          <a:bodyPr>
            <a:normAutofit/>
          </a:bodyPr>
          <a:lstStyle/>
          <a:p>
            <a:pPr algn="just">
              <a:lnSpc>
                <a:spcPct val="160000"/>
              </a:lnSpc>
              <a:buFont typeface="Wingdings" pitchFamily="2" charset="2"/>
              <a:buChar char="Ø"/>
            </a:pPr>
            <a:r>
              <a:rPr lang="en-IN" altLang="en-US" dirty="0" smtClean="0">
                <a:latin typeface="Times New Roman" panose="02020603050405020304" pitchFamily="18" charset="0"/>
                <a:cs typeface="Times New Roman" panose="02020603050405020304" pitchFamily="18" charset="0"/>
              </a:rPr>
              <a:t>To design and develop an anomaly-aware system for monitoring financial transactions</a:t>
            </a:r>
            <a:r>
              <a:rPr lang="en-IN" altLang="en-US" dirty="0" smtClean="0">
                <a:latin typeface="Times New Roman" panose="02020603050405020304" pitchFamily="18" charset="0"/>
                <a:cs typeface="Times New Roman" panose="02020603050405020304" pitchFamily="18" charset="0"/>
              </a:rPr>
              <a:t>.</a:t>
            </a:r>
          </a:p>
          <a:p>
            <a:pPr algn="just">
              <a:lnSpc>
                <a:spcPct val="160000"/>
              </a:lnSpc>
              <a:buFont typeface="Wingdings" pitchFamily="2" charset="2"/>
              <a:buChar char="Ø"/>
            </a:pPr>
            <a:r>
              <a:rPr lang="en-IN" altLang="en-US" dirty="0" smtClean="0">
                <a:latin typeface="Times New Roman" panose="02020603050405020304" pitchFamily="18" charset="0"/>
                <a:cs typeface="Times New Roman" panose="02020603050405020304" pitchFamily="18" charset="0"/>
              </a:rPr>
              <a:t>To </a:t>
            </a:r>
            <a:r>
              <a:rPr lang="en-IN" altLang="en-US" dirty="0" smtClean="0">
                <a:latin typeface="Times New Roman" panose="02020603050405020304" pitchFamily="18" charset="0"/>
                <a:cs typeface="Times New Roman" panose="02020603050405020304" pitchFamily="18" charset="0"/>
              </a:rPr>
              <a:t>identify abnormal and suspicious transaction patterns in real time</a:t>
            </a:r>
            <a:r>
              <a:rPr lang="en-IN" altLang="en-US" dirty="0" smtClean="0">
                <a:latin typeface="Times New Roman" panose="02020603050405020304" pitchFamily="18" charset="0"/>
                <a:cs typeface="Times New Roman" panose="02020603050405020304" pitchFamily="18" charset="0"/>
              </a:rPr>
              <a:t>.</a:t>
            </a:r>
          </a:p>
          <a:p>
            <a:pPr algn="just">
              <a:lnSpc>
                <a:spcPct val="160000"/>
              </a:lnSpc>
              <a:buFont typeface="Wingdings" pitchFamily="2" charset="2"/>
              <a:buChar char="Ø"/>
            </a:pPr>
            <a:r>
              <a:rPr lang="en-IN" altLang="en-US" dirty="0" smtClean="0">
                <a:latin typeface="Times New Roman" panose="02020603050405020304" pitchFamily="18" charset="0"/>
                <a:cs typeface="Times New Roman" panose="02020603050405020304" pitchFamily="18" charset="0"/>
              </a:rPr>
              <a:t>To </a:t>
            </a:r>
            <a:r>
              <a:rPr lang="en-IN" altLang="en-US" dirty="0" smtClean="0">
                <a:latin typeface="Times New Roman" panose="02020603050405020304" pitchFamily="18" charset="0"/>
                <a:cs typeface="Times New Roman" panose="02020603050405020304" pitchFamily="18" charset="0"/>
              </a:rPr>
              <a:t>reduce financial fraud by detecting unusual </a:t>
            </a:r>
            <a:r>
              <a:rPr lang="en-IN" altLang="en-US" dirty="0" err="1" smtClean="0">
                <a:latin typeface="Times New Roman" panose="02020603050405020304" pitchFamily="18" charset="0"/>
                <a:cs typeface="Times New Roman" panose="02020603050405020304" pitchFamily="18" charset="0"/>
              </a:rPr>
              <a:t>behavior</a:t>
            </a:r>
            <a:r>
              <a:rPr lang="en-IN" altLang="en-US" dirty="0" smtClean="0">
                <a:latin typeface="Times New Roman" panose="02020603050405020304" pitchFamily="18" charset="0"/>
                <a:cs typeface="Times New Roman" panose="02020603050405020304" pitchFamily="18" charset="0"/>
              </a:rPr>
              <a:t> early</a:t>
            </a:r>
            <a:r>
              <a:rPr lang="en-IN" altLang="en-US" dirty="0" smtClean="0">
                <a:latin typeface="Times New Roman" panose="02020603050405020304" pitchFamily="18" charset="0"/>
                <a:cs typeface="Times New Roman" panose="02020603050405020304" pitchFamily="18" charset="0"/>
              </a:rPr>
              <a:t>.</a:t>
            </a:r>
          </a:p>
          <a:p>
            <a:pPr algn="just">
              <a:lnSpc>
                <a:spcPct val="160000"/>
              </a:lnSpc>
              <a:buFont typeface="Wingdings" pitchFamily="2" charset="2"/>
              <a:buChar char="Ø"/>
            </a:pPr>
            <a:r>
              <a:rPr lang="en-IN" altLang="en-US" dirty="0" smtClean="0">
                <a:latin typeface="Times New Roman" panose="02020603050405020304" pitchFamily="18" charset="0"/>
                <a:cs typeface="Times New Roman" panose="02020603050405020304" pitchFamily="18" charset="0"/>
              </a:rPr>
              <a:t>To </a:t>
            </a:r>
            <a:r>
              <a:rPr lang="en-IN" altLang="en-US" dirty="0" smtClean="0">
                <a:latin typeface="Times New Roman" panose="02020603050405020304" pitchFamily="18" charset="0"/>
                <a:cs typeface="Times New Roman" panose="02020603050405020304" pitchFamily="18" charset="0"/>
              </a:rPr>
              <a:t>minimize false positives compared to traditional rule-based </a:t>
            </a:r>
            <a:r>
              <a:rPr lang="en-IN" altLang="en-US" dirty="0" err="1" smtClean="0">
                <a:latin typeface="Times New Roman" panose="02020603050405020304" pitchFamily="18" charset="0"/>
                <a:cs typeface="Times New Roman" panose="02020603050405020304" pitchFamily="18" charset="0"/>
              </a:rPr>
              <a:t>systems.To</a:t>
            </a:r>
            <a:r>
              <a:rPr lang="en-IN" altLang="en-US" dirty="0" smtClean="0">
                <a:latin typeface="Times New Roman" panose="02020603050405020304" pitchFamily="18" charset="0"/>
                <a:cs typeface="Times New Roman" panose="02020603050405020304" pitchFamily="18" charset="0"/>
              </a:rPr>
              <a:t> improve transaction security, reliability, and user trust</a:t>
            </a:r>
            <a:r>
              <a:rPr lang="en-IN" altLang="en-US" dirty="0" smtClean="0">
                <a:latin typeface="Times New Roman" panose="02020603050405020304" pitchFamily="18" charset="0"/>
                <a:cs typeface="Times New Roman" panose="02020603050405020304" pitchFamily="18" charset="0"/>
              </a:rPr>
              <a:t>.</a:t>
            </a:r>
          </a:p>
          <a:p>
            <a:pPr algn="just">
              <a:lnSpc>
                <a:spcPct val="160000"/>
              </a:lnSpc>
              <a:buFont typeface="Wingdings" pitchFamily="2" charset="2"/>
              <a:buChar char="Ø"/>
            </a:pPr>
            <a:r>
              <a:rPr lang="en-IN" altLang="en-US" dirty="0" smtClean="0">
                <a:latin typeface="Times New Roman" panose="02020603050405020304" pitchFamily="18" charset="0"/>
                <a:cs typeface="Times New Roman" panose="02020603050405020304" pitchFamily="18" charset="0"/>
              </a:rPr>
              <a:t>To </a:t>
            </a:r>
            <a:r>
              <a:rPr lang="en-IN" altLang="en-US" dirty="0" smtClean="0">
                <a:latin typeface="Times New Roman" panose="02020603050405020304" pitchFamily="18" charset="0"/>
                <a:cs typeface="Times New Roman" panose="02020603050405020304" pitchFamily="18" charset="0"/>
              </a:rPr>
              <a:t>provide timely alerts for suspicious transactions to concerned authorities.</a:t>
            </a:r>
            <a:endParaRPr lang="en-IN" altLang="en-US" dirty="0">
              <a:latin typeface="Times New Roman" panose="02020603050405020304" pitchFamily="18" charset="0"/>
              <a:cs typeface="Times New Roman" panose="02020603050405020304" pitchFamily="18" charset="0"/>
            </a:endParaRPr>
          </a:p>
        </p:txBody>
      </p:sp>
      <p:sp>
        <p:nvSpPr>
          <p:cNvPr id="5" name="Footer Placeholder 4"/>
          <p:cNvSpPr>
            <a:spLocks noGrp="1"/>
          </p:cNvSpPr>
          <p:nvPr>
            <p:ph type="ftr" sz="quarter" idx="11"/>
          </p:nvPr>
        </p:nvSpPr>
        <p:spPr>
          <a:xfrm>
            <a:off x="106878" y="6459785"/>
            <a:ext cx="8402111" cy="365125"/>
          </a:xfrm>
        </p:spPr>
        <p:txBody>
          <a:bodyPr/>
          <a:lstStyle/>
          <a:p>
            <a:pPr algn="l">
              <a:defRPr/>
            </a:pPr>
            <a:r>
              <a:rPr lang="en-US" sz="1100" b="1" dirty="0"/>
              <a:t>Department of CSE, DSATM                                                                                                                              2024-25</a:t>
            </a:r>
            <a:endParaRPr lang="en-IN" sz="1100" b="1" dirty="0"/>
          </a:p>
        </p:txBody>
      </p:sp>
      <p:sp>
        <p:nvSpPr>
          <p:cNvPr id="6" name="Slide Number Placeholder 5"/>
          <p:cNvSpPr>
            <a:spLocks noGrp="1"/>
          </p:cNvSpPr>
          <p:nvPr>
            <p:ph type="sldNum" sz="quarter" idx="12"/>
          </p:nvPr>
        </p:nvSpPr>
        <p:spPr/>
        <p:txBody>
          <a:bodyPr/>
          <a:lstStyle/>
          <a:p>
            <a:fld id="{78093063-C89A-4436-B1EA-6FAF9DA693C7}" type="slidenum">
              <a:rPr lang="en-IN" altLang="en-US" sz="1100" b="1" smtClean="0"/>
              <a:pPr/>
              <a:t>6</a:t>
            </a:fld>
            <a:endParaRPr lang="en-IN" altLang="en-US" sz="1100" b="1" dirty="0"/>
          </a:p>
        </p:txBody>
      </p:sp>
      <p:pic>
        <p:nvPicPr>
          <p:cNvPr id="3" name="Picture 2" descr="https://lh4.googleusercontent.com/4n19eN9s8Hjb3yAHumQXQJz--2HFF4XEFZxHwFTdnahykXPckLf3RjipZ9EaERLLL1Yj5HIRKctgoaq5Hhpck1lfb6Ur2VF2-hSQeLtA9AfpfJVSNt2AEP6XhybwZJnkit8aP7OqbnUvb-dnbiuuXKkhFlgT64xD7be7Ws4w31Qrn9p8S62IyD5H">
            <a:extLst>
              <a:ext uri="{FF2B5EF4-FFF2-40B4-BE49-F238E27FC236}">
                <a16:creationId xmlns:a16="http://schemas.microsoft.com/office/drawing/2014/main" xmlns="" id="{1E0F06E9-88AF-6ED6-9468-8AA7AE39346B}"/>
              </a:ext>
            </a:extLst>
          </p:cNvPr>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1055928" y="148028"/>
            <a:ext cx="950026" cy="8257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xmlns="" id="{8A4D6DD3-89C4-4DD8-94EF-3D348C0F2B59}"/>
              </a:ext>
            </a:extLst>
          </p:cNvPr>
          <p:cNvSpPr>
            <a:spLocks noGrp="1"/>
          </p:cNvSpPr>
          <p:nvPr>
            <p:ph type="title"/>
          </p:nvPr>
        </p:nvSpPr>
        <p:spPr/>
        <p:txBody>
          <a:bodyPr>
            <a:normAutofit/>
          </a:bodyPr>
          <a:lstStyle/>
          <a:p>
            <a:r>
              <a:rPr lang="en-IN" altLang="en-US" sz="3600" b="1" dirty="0">
                <a:latin typeface="Times New Roman" pitchFamily="18" charset="0"/>
                <a:cs typeface="Times New Roman" pitchFamily="18" charset="0"/>
              </a:rPr>
              <a:t>Existing System</a:t>
            </a:r>
          </a:p>
        </p:txBody>
      </p:sp>
      <p:sp>
        <p:nvSpPr>
          <p:cNvPr id="9219" name="Content Placeholder 2">
            <a:extLst>
              <a:ext uri="{FF2B5EF4-FFF2-40B4-BE49-F238E27FC236}">
                <a16:creationId xmlns:a16="http://schemas.microsoft.com/office/drawing/2014/main" xmlns="" id="{C53F268E-69C2-42A9-B143-A26506789210}"/>
              </a:ext>
            </a:extLst>
          </p:cNvPr>
          <p:cNvSpPr>
            <a:spLocks noGrp="1"/>
          </p:cNvSpPr>
          <p:nvPr>
            <p:ph idx="1"/>
          </p:nvPr>
        </p:nvSpPr>
        <p:spPr/>
        <p:txBody>
          <a:bodyPr/>
          <a:lstStyle/>
          <a:p>
            <a:pPr algn="just">
              <a:lnSpc>
                <a:spcPct val="150000"/>
              </a:lnSpc>
            </a:pPr>
            <a:r>
              <a:rPr lang="en-US" altLang="en-US" sz="2400" b="1" dirty="0" smtClean="0">
                <a:latin typeface="Times New Roman" panose="02020603050405020304" pitchFamily="18" charset="0"/>
                <a:cs typeface="Times New Roman" panose="02020603050405020304" pitchFamily="18" charset="0"/>
              </a:rPr>
              <a:t> </a:t>
            </a:r>
            <a:r>
              <a:rPr lang="en-GB" altLang="en-US" sz="2400" b="1" dirty="0" smtClean="0">
                <a:latin typeface="Times New Roman" panose="02020603050405020304" pitchFamily="18" charset="0"/>
                <a:cs typeface="Times New Roman" panose="02020603050405020304" pitchFamily="18" charset="0"/>
              </a:rPr>
              <a:t>Existing Transaction Monitoring </a:t>
            </a:r>
            <a:r>
              <a:rPr lang="en-GB" altLang="en-US" sz="2400" b="1" dirty="0" smtClean="0">
                <a:latin typeface="Times New Roman" panose="02020603050405020304" pitchFamily="18" charset="0"/>
                <a:cs typeface="Times New Roman" panose="02020603050405020304" pitchFamily="18" charset="0"/>
              </a:rPr>
              <a:t>Systems</a:t>
            </a:r>
          </a:p>
          <a:p>
            <a:pPr algn="just">
              <a:lnSpc>
                <a:spcPct val="150000"/>
              </a:lnSpc>
              <a:buFont typeface="Wingdings" pitchFamily="2" charset="2"/>
              <a:buChar char="Ø"/>
            </a:pPr>
            <a:r>
              <a:rPr lang="en-GB" altLang="en-US" dirty="0" smtClean="0">
                <a:latin typeface="Times New Roman" panose="02020603050405020304" pitchFamily="18" charset="0"/>
                <a:cs typeface="Times New Roman" panose="02020603050405020304" pitchFamily="18" charset="0"/>
              </a:rPr>
              <a:t>Traditional </a:t>
            </a:r>
            <a:r>
              <a:rPr lang="en-GB" altLang="en-US" dirty="0" smtClean="0">
                <a:latin typeface="Times New Roman" panose="02020603050405020304" pitchFamily="18" charset="0"/>
                <a:cs typeface="Times New Roman" panose="02020603050405020304" pitchFamily="18" charset="0"/>
              </a:rPr>
              <a:t>transaction monitoring systems rely on predefined rules and thresholds</a:t>
            </a:r>
            <a:r>
              <a:rPr lang="en-GB" altLang="en-US" dirty="0" smtClean="0">
                <a:latin typeface="Times New Roman" panose="02020603050405020304" pitchFamily="18" charset="0"/>
                <a:cs typeface="Times New Roman" panose="02020603050405020304" pitchFamily="18" charset="0"/>
              </a:rPr>
              <a:t>.</a:t>
            </a:r>
          </a:p>
          <a:p>
            <a:pPr algn="just">
              <a:lnSpc>
                <a:spcPct val="150000"/>
              </a:lnSpc>
              <a:buFont typeface="Wingdings" pitchFamily="2" charset="2"/>
              <a:buChar char="Ø"/>
            </a:pPr>
            <a:r>
              <a:rPr lang="en-GB" altLang="en-US" dirty="0" smtClean="0">
                <a:latin typeface="Times New Roman" panose="02020603050405020304" pitchFamily="18" charset="0"/>
                <a:cs typeface="Times New Roman" panose="02020603050405020304" pitchFamily="18" charset="0"/>
              </a:rPr>
              <a:t>Transactions </a:t>
            </a:r>
            <a:r>
              <a:rPr lang="en-GB" altLang="en-US" dirty="0" smtClean="0">
                <a:latin typeface="Times New Roman" panose="02020603050405020304" pitchFamily="18" charset="0"/>
                <a:cs typeface="Times New Roman" panose="02020603050405020304" pitchFamily="18" charset="0"/>
              </a:rPr>
              <a:t>are flagged based on fixed conditions such as transaction amount or frequency</a:t>
            </a:r>
            <a:r>
              <a:rPr lang="en-GB" altLang="en-US" dirty="0" smtClean="0">
                <a:latin typeface="Times New Roman" panose="02020603050405020304" pitchFamily="18" charset="0"/>
                <a:cs typeface="Times New Roman" panose="02020603050405020304" pitchFamily="18" charset="0"/>
              </a:rPr>
              <a:t>.</a:t>
            </a:r>
          </a:p>
          <a:p>
            <a:pPr algn="just">
              <a:lnSpc>
                <a:spcPct val="150000"/>
              </a:lnSpc>
              <a:buFont typeface="Wingdings" pitchFamily="2" charset="2"/>
              <a:buChar char="Ø"/>
            </a:pPr>
            <a:r>
              <a:rPr lang="en-GB" altLang="en-US" dirty="0" smtClean="0">
                <a:latin typeface="Times New Roman" panose="02020603050405020304" pitchFamily="18" charset="0"/>
                <a:cs typeface="Times New Roman" panose="02020603050405020304" pitchFamily="18" charset="0"/>
              </a:rPr>
              <a:t>Manual </a:t>
            </a:r>
            <a:r>
              <a:rPr lang="en-GB" altLang="en-US" dirty="0" smtClean="0">
                <a:latin typeface="Times New Roman" panose="02020603050405020304" pitchFamily="18" charset="0"/>
                <a:cs typeface="Times New Roman" panose="02020603050405020304" pitchFamily="18" charset="0"/>
              </a:rPr>
              <a:t>verification is often required to confirm suspicious activities</a:t>
            </a:r>
            <a:r>
              <a:rPr lang="en-GB" altLang="en-US" dirty="0" smtClean="0">
                <a:latin typeface="Times New Roman" panose="02020603050405020304" pitchFamily="18" charset="0"/>
                <a:cs typeface="Times New Roman" panose="02020603050405020304" pitchFamily="18" charset="0"/>
              </a:rPr>
              <a:t>.</a:t>
            </a:r>
          </a:p>
          <a:p>
            <a:pPr algn="just">
              <a:lnSpc>
                <a:spcPct val="150000"/>
              </a:lnSpc>
              <a:buFont typeface="Wingdings" pitchFamily="2" charset="2"/>
              <a:buChar char="Ø"/>
            </a:pPr>
            <a:r>
              <a:rPr lang="en-GB" altLang="en-US" dirty="0" smtClean="0">
                <a:latin typeface="Times New Roman" panose="02020603050405020304" pitchFamily="18" charset="0"/>
                <a:cs typeface="Times New Roman" panose="02020603050405020304" pitchFamily="18" charset="0"/>
              </a:rPr>
              <a:t>Batch </a:t>
            </a:r>
            <a:r>
              <a:rPr lang="en-GB" altLang="en-US" dirty="0" smtClean="0">
                <a:latin typeface="Times New Roman" panose="02020603050405020304" pitchFamily="18" charset="0"/>
                <a:cs typeface="Times New Roman" panose="02020603050405020304" pitchFamily="18" charset="0"/>
              </a:rPr>
              <a:t>processing is commonly used instead of real-time monitoring.</a:t>
            </a:r>
            <a:endParaRPr lang="en-IN" altLang="en-US" dirty="0">
              <a:latin typeface="Times New Roman" panose="02020603050405020304" pitchFamily="18" charset="0"/>
              <a:cs typeface="Times New Roman" panose="02020603050405020304" pitchFamily="18" charset="0"/>
            </a:endParaRPr>
          </a:p>
        </p:txBody>
      </p:sp>
      <p:sp>
        <p:nvSpPr>
          <p:cNvPr id="5" name="Footer Placeholder 4"/>
          <p:cNvSpPr>
            <a:spLocks noGrp="1"/>
          </p:cNvSpPr>
          <p:nvPr>
            <p:ph type="ftr" sz="quarter" idx="11"/>
          </p:nvPr>
        </p:nvSpPr>
        <p:spPr>
          <a:xfrm>
            <a:off x="166255" y="6459786"/>
            <a:ext cx="8342734" cy="273524"/>
          </a:xfrm>
        </p:spPr>
        <p:txBody>
          <a:bodyPr/>
          <a:lstStyle/>
          <a:p>
            <a:pPr algn="l">
              <a:defRPr/>
            </a:pPr>
            <a:r>
              <a:rPr lang="en-US" sz="1100" b="1" dirty="0"/>
              <a:t>Department of CSE, DSATM                                                                                                                                 2024-25</a:t>
            </a:r>
            <a:endParaRPr lang="en-IN" sz="1100" b="1" dirty="0"/>
          </a:p>
        </p:txBody>
      </p:sp>
      <p:sp>
        <p:nvSpPr>
          <p:cNvPr id="6" name="Slide Number Placeholder 5"/>
          <p:cNvSpPr>
            <a:spLocks noGrp="1"/>
          </p:cNvSpPr>
          <p:nvPr>
            <p:ph type="sldNum" sz="quarter" idx="12"/>
          </p:nvPr>
        </p:nvSpPr>
        <p:spPr/>
        <p:txBody>
          <a:bodyPr/>
          <a:lstStyle/>
          <a:p>
            <a:fld id="{78093063-C89A-4436-B1EA-6FAF9DA693C7}" type="slidenum">
              <a:rPr lang="en-IN" altLang="en-US" sz="1100" b="1" smtClean="0"/>
              <a:pPr/>
              <a:t>7</a:t>
            </a:fld>
            <a:endParaRPr lang="en-IN" altLang="en-US" sz="1100" b="1" dirty="0"/>
          </a:p>
        </p:txBody>
      </p:sp>
      <p:pic>
        <p:nvPicPr>
          <p:cNvPr id="3" name="Picture 2" descr="https://lh4.googleusercontent.com/4n19eN9s8Hjb3yAHumQXQJz--2HFF4XEFZxHwFTdnahykXPckLf3RjipZ9EaERLLL1Yj5HIRKctgoaq5Hhpck1lfb6Ur2VF2-hSQeLtA9AfpfJVSNt2AEP6XhybwZJnkit8aP7OqbnUvb-dnbiuuXKkhFlgT64xD7be7Ws4w31Qrn9p8S62IyD5H">
            <a:extLst>
              <a:ext uri="{FF2B5EF4-FFF2-40B4-BE49-F238E27FC236}">
                <a16:creationId xmlns:a16="http://schemas.microsoft.com/office/drawing/2014/main" xmlns="" id="{0D9CA0E8-4726-8810-6CB6-2213ED943B85}"/>
              </a:ext>
            </a:extLst>
          </p:cNvPr>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1055928" y="148028"/>
            <a:ext cx="950026" cy="8257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667EE91-8127-08A7-2608-21412A53A75B}"/>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xmlns="" id="{DB9F01F9-DA8E-7F0A-16E5-C640D4D41FBA}"/>
              </a:ext>
            </a:extLst>
          </p:cNvPr>
          <p:cNvSpPr>
            <a:spLocks noGrp="1"/>
          </p:cNvSpPr>
          <p:nvPr>
            <p:ph type="title"/>
          </p:nvPr>
        </p:nvSpPr>
        <p:spPr/>
        <p:txBody>
          <a:bodyPr>
            <a:normAutofit/>
          </a:bodyPr>
          <a:lstStyle/>
          <a:p>
            <a:r>
              <a:rPr lang="en-IN" altLang="en-US" sz="3600" b="1" dirty="0">
                <a:latin typeface="Times New Roman" pitchFamily="18" charset="0"/>
                <a:cs typeface="Times New Roman" pitchFamily="18" charset="0"/>
              </a:rPr>
              <a:t>Existing System</a:t>
            </a:r>
          </a:p>
        </p:txBody>
      </p:sp>
      <p:sp>
        <p:nvSpPr>
          <p:cNvPr id="9219" name="Content Placeholder 2">
            <a:extLst>
              <a:ext uri="{FF2B5EF4-FFF2-40B4-BE49-F238E27FC236}">
                <a16:creationId xmlns:a16="http://schemas.microsoft.com/office/drawing/2014/main" xmlns="" id="{5C9830E6-1DBE-026A-7B12-3599292F860B}"/>
              </a:ext>
            </a:extLst>
          </p:cNvPr>
          <p:cNvSpPr>
            <a:spLocks noGrp="1"/>
          </p:cNvSpPr>
          <p:nvPr>
            <p:ph idx="1"/>
          </p:nvPr>
        </p:nvSpPr>
        <p:spPr/>
        <p:txBody>
          <a:bodyPr>
            <a:normAutofit/>
          </a:bodyPr>
          <a:lstStyle/>
          <a:p>
            <a:pPr marL="0" indent="0" algn="just">
              <a:lnSpc>
                <a:spcPct val="150000"/>
              </a:lnSpc>
              <a:buNone/>
            </a:pPr>
            <a:r>
              <a:rPr lang="en-US" altLang="en-US" b="1" dirty="0">
                <a:latin typeface="Times New Roman" panose="02020603050405020304" pitchFamily="18" charset="0"/>
                <a:cs typeface="Times New Roman" panose="02020603050405020304" pitchFamily="18" charset="0"/>
              </a:rPr>
              <a:t>Limitations of existing systems:</a:t>
            </a:r>
          </a:p>
          <a:p>
            <a:pPr algn="just">
              <a:lnSpc>
                <a:spcPct val="150000"/>
              </a:lnSpc>
              <a:buFont typeface="Wingdings" pitchFamily="2" charset="2"/>
              <a:buChar char="Ø"/>
            </a:pPr>
            <a:r>
              <a:rPr lang="en-GB" altLang="en-US" dirty="0" smtClean="0">
                <a:latin typeface="Times New Roman" panose="02020603050405020304" pitchFamily="18" charset="0"/>
                <a:cs typeface="Times New Roman" panose="02020603050405020304" pitchFamily="18" charset="0"/>
              </a:rPr>
              <a:t>Inability to detect complex and evolving fraud patterns</a:t>
            </a:r>
            <a:r>
              <a:rPr lang="en-GB" altLang="en-US" dirty="0" smtClean="0">
                <a:latin typeface="Times New Roman" panose="02020603050405020304" pitchFamily="18" charset="0"/>
                <a:cs typeface="Times New Roman" panose="02020603050405020304" pitchFamily="18" charset="0"/>
              </a:rPr>
              <a:t>.</a:t>
            </a:r>
          </a:p>
          <a:p>
            <a:pPr algn="just">
              <a:lnSpc>
                <a:spcPct val="150000"/>
              </a:lnSpc>
              <a:buFont typeface="Wingdings" pitchFamily="2" charset="2"/>
              <a:buChar char="Ø"/>
            </a:pPr>
            <a:r>
              <a:rPr lang="en-GB" altLang="en-US" dirty="0" smtClean="0">
                <a:latin typeface="Times New Roman" panose="02020603050405020304" pitchFamily="18" charset="0"/>
                <a:cs typeface="Times New Roman" panose="02020603050405020304" pitchFamily="18" charset="0"/>
              </a:rPr>
              <a:t>High </a:t>
            </a:r>
            <a:r>
              <a:rPr lang="en-GB" altLang="en-US" dirty="0" smtClean="0">
                <a:latin typeface="Times New Roman" panose="02020603050405020304" pitchFamily="18" charset="0"/>
                <a:cs typeface="Times New Roman" panose="02020603050405020304" pitchFamily="18" charset="0"/>
              </a:rPr>
              <a:t>false-positive rates leading to unnecessary alerts</a:t>
            </a:r>
            <a:r>
              <a:rPr lang="en-GB" altLang="en-US" dirty="0" smtClean="0">
                <a:latin typeface="Times New Roman" panose="02020603050405020304" pitchFamily="18" charset="0"/>
                <a:cs typeface="Times New Roman" panose="02020603050405020304" pitchFamily="18" charset="0"/>
              </a:rPr>
              <a:t>.</a:t>
            </a:r>
          </a:p>
          <a:p>
            <a:pPr algn="just">
              <a:lnSpc>
                <a:spcPct val="150000"/>
              </a:lnSpc>
              <a:buFont typeface="Wingdings" pitchFamily="2" charset="2"/>
              <a:buChar char="Ø"/>
            </a:pPr>
            <a:r>
              <a:rPr lang="en-GB" altLang="en-US" dirty="0" smtClean="0">
                <a:latin typeface="Times New Roman" panose="02020603050405020304" pitchFamily="18" charset="0"/>
                <a:cs typeface="Times New Roman" panose="02020603050405020304" pitchFamily="18" charset="0"/>
              </a:rPr>
              <a:t>Lack </a:t>
            </a:r>
            <a:r>
              <a:rPr lang="en-GB" altLang="en-US" dirty="0" smtClean="0">
                <a:latin typeface="Times New Roman" panose="02020603050405020304" pitchFamily="18" charset="0"/>
                <a:cs typeface="Times New Roman" panose="02020603050405020304" pitchFamily="18" charset="0"/>
              </a:rPr>
              <a:t>of adaptability to new types of anomalies</a:t>
            </a:r>
            <a:r>
              <a:rPr lang="en-GB" altLang="en-US" dirty="0" smtClean="0">
                <a:latin typeface="Times New Roman" panose="02020603050405020304" pitchFamily="18" charset="0"/>
                <a:cs typeface="Times New Roman" panose="02020603050405020304" pitchFamily="18" charset="0"/>
              </a:rPr>
              <a:t>.</a:t>
            </a:r>
          </a:p>
          <a:p>
            <a:pPr algn="just">
              <a:lnSpc>
                <a:spcPct val="150000"/>
              </a:lnSpc>
              <a:buFont typeface="Wingdings" pitchFamily="2" charset="2"/>
              <a:buChar char="Ø"/>
            </a:pPr>
            <a:r>
              <a:rPr lang="en-GB" altLang="en-US" dirty="0" smtClean="0">
                <a:latin typeface="Times New Roman" panose="02020603050405020304" pitchFamily="18" charset="0"/>
                <a:cs typeface="Times New Roman" panose="02020603050405020304" pitchFamily="18" charset="0"/>
              </a:rPr>
              <a:t>Delayed </a:t>
            </a:r>
            <a:r>
              <a:rPr lang="en-GB" altLang="en-US" dirty="0" smtClean="0">
                <a:latin typeface="Times New Roman" panose="02020603050405020304" pitchFamily="18" charset="0"/>
                <a:cs typeface="Times New Roman" panose="02020603050405020304" pitchFamily="18" charset="0"/>
              </a:rPr>
              <a:t>detection due to non-real-time analysis</a:t>
            </a:r>
            <a:r>
              <a:rPr lang="en-GB" altLang="en-US" dirty="0" smtClean="0">
                <a:latin typeface="Times New Roman" panose="02020603050405020304" pitchFamily="18" charset="0"/>
                <a:cs typeface="Times New Roman" panose="02020603050405020304" pitchFamily="18" charset="0"/>
              </a:rPr>
              <a:t>.</a:t>
            </a:r>
          </a:p>
          <a:p>
            <a:pPr algn="just">
              <a:lnSpc>
                <a:spcPct val="150000"/>
              </a:lnSpc>
              <a:buFont typeface="Wingdings" pitchFamily="2" charset="2"/>
              <a:buChar char="Ø"/>
            </a:pPr>
            <a:r>
              <a:rPr lang="en-GB" altLang="en-US" dirty="0" smtClean="0">
                <a:latin typeface="Times New Roman" panose="02020603050405020304" pitchFamily="18" charset="0"/>
                <a:cs typeface="Times New Roman" panose="02020603050405020304" pitchFamily="18" charset="0"/>
              </a:rPr>
              <a:t>Increased </a:t>
            </a:r>
            <a:r>
              <a:rPr lang="en-GB" altLang="en-US" dirty="0" smtClean="0">
                <a:latin typeface="Times New Roman" panose="02020603050405020304" pitchFamily="18" charset="0"/>
                <a:cs typeface="Times New Roman" panose="02020603050405020304" pitchFamily="18" charset="0"/>
              </a:rPr>
              <a:t>operational cost and manual effort</a:t>
            </a:r>
            <a:endParaRPr lang="en-IN" altLang="en-US"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xmlns="" id="{6F2813BF-E4E0-7FB6-B627-6DD7FF4BEB68}"/>
              </a:ext>
            </a:extLst>
          </p:cNvPr>
          <p:cNvSpPr>
            <a:spLocks noGrp="1"/>
          </p:cNvSpPr>
          <p:nvPr>
            <p:ph type="ftr" sz="quarter" idx="11"/>
          </p:nvPr>
        </p:nvSpPr>
        <p:spPr>
          <a:xfrm>
            <a:off x="166255" y="6459786"/>
            <a:ext cx="8342734" cy="273524"/>
          </a:xfrm>
        </p:spPr>
        <p:txBody>
          <a:bodyPr/>
          <a:lstStyle/>
          <a:p>
            <a:pPr algn="l">
              <a:defRPr/>
            </a:pPr>
            <a:r>
              <a:rPr lang="en-US" sz="1100" b="1" dirty="0"/>
              <a:t>Department of CSE, DSATM                                                                                                                                 2024-25</a:t>
            </a:r>
            <a:endParaRPr lang="en-IN" sz="1100" b="1" dirty="0"/>
          </a:p>
        </p:txBody>
      </p:sp>
      <p:sp>
        <p:nvSpPr>
          <p:cNvPr id="6" name="Slide Number Placeholder 5">
            <a:extLst>
              <a:ext uri="{FF2B5EF4-FFF2-40B4-BE49-F238E27FC236}">
                <a16:creationId xmlns:a16="http://schemas.microsoft.com/office/drawing/2014/main" xmlns="" id="{5E347F2D-A972-AA56-0D15-499F4D917C85}"/>
              </a:ext>
            </a:extLst>
          </p:cNvPr>
          <p:cNvSpPr>
            <a:spLocks noGrp="1"/>
          </p:cNvSpPr>
          <p:nvPr>
            <p:ph type="sldNum" sz="quarter" idx="12"/>
          </p:nvPr>
        </p:nvSpPr>
        <p:spPr/>
        <p:txBody>
          <a:bodyPr/>
          <a:lstStyle/>
          <a:p>
            <a:fld id="{78093063-C89A-4436-B1EA-6FAF9DA693C7}" type="slidenum">
              <a:rPr lang="en-IN" altLang="en-US" sz="1100" b="1" smtClean="0"/>
              <a:pPr/>
              <a:t>8</a:t>
            </a:fld>
            <a:endParaRPr lang="en-IN" altLang="en-US" sz="1100" b="1" dirty="0"/>
          </a:p>
        </p:txBody>
      </p:sp>
      <p:pic>
        <p:nvPicPr>
          <p:cNvPr id="3" name="Picture 2" descr="https://lh4.googleusercontent.com/4n19eN9s8Hjb3yAHumQXQJz--2HFF4XEFZxHwFTdnahykXPckLf3RjipZ9EaERLLL1Yj5HIRKctgoaq5Hhpck1lfb6Ur2VF2-hSQeLtA9AfpfJVSNt2AEP6XhybwZJnkit8aP7OqbnUvb-dnbiuuXKkhFlgT64xD7be7Ws4w31Qrn9p8S62IyD5H">
            <a:extLst>
              <a:ext uri="{FF2B5EF4-FFF2-40B4-BE49-F238E27FC236}">
                <a16:creationId xmlns:a16="http://schemas.microsoft.com/office/drawing/2014/main" xmlns="" id="{B8597BFE-6256-CAB8-321B-CD506502EF2C}"/>
              </a:ext>
            </a:extLst>
          </p:cNvPr>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1055928" y="148028"/>
            <a:ext cx="950026" cy="825750"/>
          </a:xfrm>
          <a:prstGeom prst="rect">
            <a:avLst/>
          </a:prstGeom>
          <a:noFill/>
          <a:ln>
            <a:noFill/>
          </a:ln>
        </p:spPr>
      </p:pic>
    </p:spTree>
    <p:extLst>
      <p:ext uri="{BB962C8B-B14F-4D97-AF65-F5344CB8AC3E}">
        <p14:creationId xmlns:p14="http://schemas.microsoft.com/office/powerpoint/2010/main" xmlns="" val="31492172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xmlns="" id="{A81DC56A-1348-4C35-990E-AC47E5F170DE}"/>
              </a:ext>
            </a:extLst>
          </p:cNvPr>
          <p:cNvSpPr>
            <a:spLocks noGrp="1"/>
          </p:cNvSpPr>
          <p:nvPr>
            <p:ph type="title"/>
          </p:nvPr>
        </p:nvSpPr>
        <p:spPr/>
        <p:txBody>
          <a:bodyPr>
            <a:normAutofit/>
          </a:bodyPr>
          <a:lstStyle/>
          <a:p>
            <a:r>
              <a:rPr lang="en-IN" altLang="en-US" sz="3600" b="1" dirty="0">
                <a:latin typeface="Times New Roman" pitchFamily="18" charset="0"/>
                <a:cs typeface="Times New Roman" pitchFamily="18" charset="0"/>
              </a:rPr>
              <a:t>Proposed System</a:t>
            </a:r>
          </a:p>
        </p:txBody>
      </p:sp>
      <p:sp>
        <p:nvSpPr>
          <p:cNvPr id="10243" name="Content Placeholder 2">
            <a:extLst>
              <a:ext uri="{FF2B5EF4-FFF2-40B4-BE49-F238E27FC236}">
                <a16:creationId xmlns:a16="http://schemas.microsoft.com/office/drawing/2014/main" xmlns="" id="{541DC8C6-9174-4832-BB4F-CF4AD5419750}"/>
              </a:ext>
            </a:extLst>
          </p:cNvPr>
          <p:cNvSpPr>
            <a:spLocks noGrp="1"/>
          </p:cNvSpPr>
          <p:nvPr>
            <p:ph idx="1"/>
          </p:nvPr>
        </p:nvSpPr>
        <p:spPr/>
        <p:txBody>
          <a:bodyPr/>
          <a:lstStyle/>
          <a:p>
            <a:pPr algn="just" fontAlgn="auto">
              <a:lnSpc>
                <a:spcPct val="150000"/>
              </a:lnSpc>
              <a:spcAft>
                <a:spcPts val="0"/>
              </a:spcAft>
              <a:defRPr/>
            </a:pPr>
            <a:r>
              <a:rPr lang="en-US" altLang="en-US" b="1" dirty="0">
                <a:latin typeface="Times New Roman" panose="02020603050405020304" pitchFamily="18" charset="0"/>
                <a:cs typeface="Times New Roman" panose="02020603050405020304" pitchFamily="18" charset="0"/>
              </a:rPr>
              <a:t>Proposed Anomaly – Aware Transaction Monitoring System</a:t>
            </a:r>
          </a:p>
          <a:p>
            <a:pPr algn="just" fontAlgn="auto">
              <a:lnSpc>
                <a:spcPct val="150000"/>
              </a:lnSpc>
              <a:spcAft>
                <a:spcPts val="0"/>
              </a:spcAft>
              <a:defRPr/>
            </a:pPr>
            <a:r>
              <a:rPr lang="en-US" altLang="en-US" dirty="0" smtClean="0">
                <a:latin typeface="Times New Roman" panose="02020603050405020304" pitchFamily="18" charset="0"/>
                <a:cs typeface="Times New Roman" panose="02020603050405020304" pitchFamily="18" charset="0"/>
              </a:rPr>
              <a:t> </a:t>
            </a:r>
            <a:r>
              <a:rPr lang="en-GB" altLang="en-US" dirty="0" smtClean="0">
                <a:latin typeface="Times New Roman" panose="02020603050405020304" pitchFamily="18" charset="0"/>
                <a:cs typeface="Times New Roman" panose="02020603050405020304" pitchFamily="18" charset="0"/>
              </a:rPr>
              <a:t>The proposed system introduces an intelligent anomaly-aware transaction monitoring approach that automatically analyzes financial transactions in real time to identify suspicious </a:t>
            </a:r>
            <a:r>
              <a:rPr lang="en-GB" altLang="en-US" dirty="0" err="1" smtClean="0">
                <a:latin typeface="Times New Roman" panose="02020603050405020304" pitchFamily="18" charset="0"/>
                <a:cs typeface="Times New Roman" panose="02020603050405020304" pitchFamily="18" charset="0"/>
              </a:rPr>
              <a:t>behavior</a:t>
            </a:r>
            <a:r>
              <a:rPr lang="en-GB" altLang="en-US" dirty="0" smtClean="0">
                <a:latin typeface="Times New Roman" panose="02020603050405020304" pitchFamily="18" charset="0"/>
                <a:cs typeface="Times New Roman" panose="02020603050405020304" pitchFamily="18" charset="0"/>
              </a:rPr>
              <a:t>. It collects transaction data such as transaction amount, time, location, frequency, and user </a:t>
            </a:r>
            <a:r>
              <a:rPr lang="en-GB" altLang="en-US" dirty="0" err="1" smtClean="0">
                <a:latin typeface="Times New Roman" panose="02020603050405020304" pitchFamily="18" charset="0"/>
                <a:cs typeface="Times New Roman" panose="02020603050405020304" pitchFamily="18" charset="0"/>
              </a:rPr>
              <a:t>behavior</a:t>
            </a:r>
            <a:r>
              <a:rPr lang="en-GB" altLang="en-US" dirty="0" smtClean="0">
                <a:latin typeface="Times New Roman" panose="02020603050405020304" pitchFamily="18" charset="0"/>
                <a:cs typeface="Times New Roman" panose="02020603050405020304" pitchFamily="18" charset="0"/>
              </a:rPr>
              <a:t> patterns. Using anomaly detection techniques, the system learns normal transaction </a:t>
            </a:r>
            <a:r>
              <a:rPr lang="en-GB" altLang="en-US" dirty="0" err="1" smtClean="0">
                <a:latin typeface="Times New Roman" panose="02020603050405020304" pitchFamily="18" charset="0"/>
                <a:cs typeface="Times New Roman" panose="02020603050405020304" pitchFamily="18" charset="0"/>
              </a:rPr>
              <a:t>behavior</a:t>
            </a:r>
            <a:r>
              <a:rPr lang="en-GB" altLang="en-US" dirty="0" smtClean="0">
                <a:latin typeface="Times New Roman" panose="02020603050405020304" pitchFamily="18" charset="0"/>
                <a:cs typeface="Times New Roman" panose="02020603050405020304" pitchFamily="18" charset="0"/>
              </a:rPr>
              <a:t> and continuously compares incoming transactions against this learned model to identify deviations. When an abnormal transaction is detected, the system immediately flags it for further verification.</a:t>
            </a:r>
            <a:endParaRPr lang="en-IN" altLang="en-US" dirty="0">
              <a:latin typeface="Times New Roman" panose="02020603050405020304" pitchFamily="18" charset="0"/>
              <a:cs typeface="Times New Roman" panose="02020603050405020304" pitchFamily="18" charset="0"/>
            </a:endParaRPr>
          </a:p>
        </p:txBody>
      </p:sp>
      <p:sp>
        <p:nvSpPr>
          <p:cNvPr id="5" name="Footer Placeholder 4"/>
          <p:cNvSpPr>
            <a:spLocks noGrp="1"/>
          </p:cNvSpPr>
          <p:nvPr>
            <p:ph type="ftr" sz="quarter" idx="11"/>
          </p:nvPr>
        </p:nvSpPr>
        <p:spPr>
          <a:xfrm>
            <a:off x="261257" y="6430988"/>
            <a:ext cx="8508989" cy="365125"/>
          </a:xfrm>
        </p:spPr>
        <p:txBody>
          <a:bodyPr/>
          <a:lstStyle/>
          <a:p>
            <a:pPr algn="l">
              <a:defRPr/>
            </a:pPr>
            <a:r>
              <a:rPr lang="en-US" sz="1100" b="1" dirty="0"/>
              <a:t>Department of CSE, DSATM                                                                                                                               2024-25</a:t>
            </a:r>
            <a:endParaRPr lang="en-IN" sz="1100" b="1" dirty="0"/>
          </a:p>
        </p:txBody>
      </p:sp>
      <p:sp>
        <p:nvSpPr>
          <p:cNvPr id="6" name="Slide Number Placeholder 5"/>
          <p:cNvSpPr>
            <a:spLocks noGrp="1"/>
          </p:cNvSpPr>
          <p:nvPr>
            <p:ph type="sldNum" sz="quarter" idx="12"/>
          </p:nvPr>
        </p:nvSpPr>
        <p:spPr/>
        <p:txBody>
          <a:bodyPr/>
          <a:lstStyle/>
          <a:p>
            <a:fld id="{78093063-C89A-4436-B1EA-6FAF9DA693C7}" type="slidenum">
              <a:rPr lang="en-IN" altLang="en-US" sz="1100" b="1" smtClean="0"/>
              <a:pPr/>
              <a:t>9</a:t>
            </a:fld>
            <a:endParaRPr lang="en-IN" altLang="en-US" sz="1100" b="1" dirty="0"/>
          </a:p>
        </p:txBody>
      </p:sp>
      <p:pic>
        <p:nvPicPr>
          <p:cNvPr id="3" name="Picture 2" descr="https://lh4.googleusercontent.com/4n19eN9s8Hjb3yAHumQXQJz--2HFF4XEFZxHwFTdnahykXPckLf3RjipZ9EaERLLL1Yj5HIRKctgoaq5Hhpck1lfb6Ur2VF2-hSQeLtA9AfpfJVSNt2AEP6XhybwZJnkit8aP7OqbnUvb-dnbiuuXKkhFlgT64xD7be7Ws4w31Qrn9p8S62IyD5H">
            <a:extLst>
              <a:ext uri="{FF2B5EF4-FFF2-40B4-BE49-F238E27FC236}">
                <a16:creationId xmlns:a16="http://schemas.microsoft.com/office/drawing/2014/main" xmlns="" id="{1CCA0291-B341-4120-68BA-A6DAF0821FC5}"/>
              </a:ext>
            </a:extLst>
          </p:cNvPr>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1055928" y="148028"/>
            <a:ext cx="950026" cy="8257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9BE2FE1-E07D-89FF-2BE1-F21354757B90}"/>
            </a:ext>
          </a:extLst>
        </p:cNvPr>
        <p:cNvGrpSpPr/>
        <p:nvPr/>
      </p:nvGrpSpPr>
      <p:grpSpPr>
        <a:xfrm>
          <a:off x="0" y="0"/>
          <a:ext cx="0" cy="0"/>
          <a:chOff x="0" y="0"/>
          <a:chExt cx="0" cy="0"/>
        </a:xfrm>
      </p:grpSpPr>
      <p:sp>
        <p:nvSpPr>
          <p:cNvPr id="10242" name="Title 1">
            <a:extLst>
              <a:ext uri="{FF2B5EF4-FFF2-40B4-BE49-F238E27FC236}">
                <a16:creationId xmlns:a16="http://schemas.microsoft.com/office/drawing/2014/main" xmlns="" id="{BF811031-C219-7292-FE9F-A8B2F8E06142}"/>
              </a:ext>
            </a:extLst>
          </p:cNvPr>
          <p:cNvSpPr>
            <a:spLocks noGrp="1"/>
          </p:cNvSpPr>
          <p:nvPr>
            <p:ph type="title"/>
          </p:nvPr>
        </p:nvSpPr>
        <p:spPr/>
        <p:txBody>
          <a:bodyPr>
            <a:normAutofit/>
          </a:bodyPr>
          <a:lstStyle/>
          <a:p>
            <a:r>
              <a:rPr lang="en-IN" altLang="en-US" sz="3600" b="1" dirty="0">
                <a:latin typeface="Times New Roman" pitchFamily="18" charset="0"/>
                <a:cs typeface="Times New Roman" pitchFamily="18" charset="0"/>
              </a:rPr>
              <a:t>Proposed System</a:t>
            </a:r>
          </a:p>
        </p:txBody>
      </p:sp>
      <p:sp>
        <p:nvSpPr>
          <p:cNvPr id="10243" name="Content Placeholder 2">
            <a:extLst>
              <a:ext uri="{FF2B5EF4-FFF2-40B4-BE49-F238E27FC236}">
                <a16:creationId xmlns:a16="http://schemas.microsoft.com/office/drawing/2014/main" xmlns="" id="{FD9519DF-FD87-959F-9D50-765DABB5D055}"/>
              </a:ext>
            </a:extLst>
          </p:cNvPr>
          <p:cNvSpPr>
            <a:spLocks noGrp="1"/>
          </p:cNvSpPr>
          <p:nvPr>
            <p:ph idx="1"/>
          </p:nvPr>
        </p:nvSpPr>
        <p:spPr/>
        <p:txBody>
          <a:bodyPr/>
          <a:lstStyle/>
          <a:p>
            <a:pPr algn="just" fontAlgn="auto">
              <a:lnSpc>
                <a:spcPct val="150000"/>
              </a:lnSpc>
              <a:spcAft>
                <a:spcPts val="0"/>
              </a:spcAft>
              <a:defRPr/>
            </a:pPr>
            <a:r>
              <a:rPr lang="en-US" altLang="en-US" dirty="0" smtClean="0">
                <a:latin typeface="Times New Roman" panose="02020603050405020304" pitchFamily="18" charset="0"/>
                <a:cs typeface="Times New Roman" panose="02020603050405020304" pitchFamily="18" charset="0"/>
              </a:rPr>
              <a:t> </a:t>
            </a:r>
            <a:r>
              <a:rPr lang="en-GB" altLang="en-US" sz="2400" b="1" dirty="0" smtClean="0">
                <a:latin typeface="Times New Roman" panose="02020603050405020304" pitchFamily="18" charset="0"/>
                <a:cs typeface="Times New Roman" panose="02020603050405020304" pitchFamily="18" charset="0"/>
              </a:rPr>
              <a:t>Working </a:t>
            </a:r>
            <a:r>
              <a:rPr lang="en-GB" altLang="en-US" sz="2400" b="1" dirty="0" smtClean="0">
                <a:latin typeface="Times New Roman" panose="02020603050405020304" pitchFamily="18" charset="0"/>
                <a:cs typeface="Times New Roman" panose="02020603050405020304" pitchFamily="18" charset="0"/>
              </a:rPr>
              <a:t>Methodology</a:t>
            </a:r>
            <a:endParaRPr lang="en-GB" altLang="en-US" b="1" dirty="0" smtClean="0">
              <a:latin typeface="Times New Roman" panose="02020603050405020304" pitchFamily="18" charset="0"/>
              <a:cs typeface="Times New Roman" panose="02020603050405020304" pitchFamily="18" charset="0"/>
            </a:endParaRPr>
          </a:p>
          <a:p>
            <a:pPr algn="just" fontAlgn="auto">
              <a:lnSpc>
                <a:spcPct val="150000"/>
              </a:lnSpc>
              <a:spcAft>
                <a:spcPts val="0"/>
              </a:spcAft>
              <a:defRPr/>
            </a:pPr>
            <a:r>
              <a:rPr lang="en-GB" altLang="en-US" dirty="0" smtClean="0">
                <a:latin typeface="Times New Roman" panose="02020603050405020304" pitchFamily="18" charset="0"/>
                <a:cs typeface="Times New Roman" panose="02020603050405020304" pitchFamily="18" charset="0"/>
              </a:rPr>
              <a:t>The </a:t>
            </a:r>
            <a:r>
              <a:rPr lang="en-GB" altLang="en-US" dirty="0" smtClean="0">
                <a:latin typeface="Times New Roman" panose="02020603050405020304" pitchFamily="18" charset="0"/>
                <a:cs typeface="Times New Roman" panose="02020603050405020304" pitchFamily="18" charset="0"/>
              </a:rPr>
              <a:t>system uses machine learning–based anomaly detection algorithms to adapt to changing transaction patterns. Unlike traditional rule-based systems, the proposed system updates its model dynamically based on new transaction data. This improves detection accuracy and reduces false alerts. Real-time monitoring enables faster response to fraudulent activities, ensuring enhanced security, scalability, and reliability of digital transactions.</a:t>
            </a:r>
            <a:endParaRPr lang="en-IN" altLang="en-US"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xmlns="" id="{A7213A60-FAA6-3C5D-B029-95ABE857AAA0}"/>
              </a:ext>
            </a:extLst>
          </p:cNvPr>
          <p:cNvSpPr>
            <a:spLocks noGrp="1"/>
          </p:cNvSpPr>
          <p:nvPr>
            <p:ph type="ftr" sz="quarter" idx="11"/>
          </p:nvPr>
        </p:nvSpPr>
        <p:spPr>
          <a:xfrm>
            <a:off x="261257" y="6430988"/>
            <a:ext cx="8508989" cy="365125"/>
          </a:xfrm>
        </p:spPr>
        <p:txBody>
          <a:bodyPr/>
          <a:lstStyle/>
          <a:p>
            <a:pPr algn="l">
              <a:defRPr/>
            </a:pPr>
            <a:r>
              <a:rPr lang="en-US" sz="1100" b="1" dirty="0"/>
              <a:t>Department of CSE, DSATM                                                                                                                               2024-25</a:t>
            </a:r>
            <a:endParaRPr lang="en-IN" sz="1100" b="1" dirty="0"/>
          </a:p>
        </p:txBody>
      </p:sp>
      <p:sp>
        <p:nvSpPr>
          <p:cNvPr id="6" name="Slide Number Placeholder 5">
            <a:extLst>
              <a:ext uri="{FF2B5EF4-FFF2-40B4-BE49-F238E27FC236}">
                <a16:creationId xmlns:a16="http://schemas.microsoft.com/office/drawing/2014/main" xmlns="" id="{9988E13D-4520-7908-A4C7-FC5BB90E8B7E}"/>
              </a:ext>
            </a:extLst>
          </p:cNvPr>
          <p:cNvSpPr>
            <a:spLocks noGrp="1"/>
          </p:cNvSpPr>
          <p:nvPr>
            <p:ph type="sldNum" sz="quarter" idx="12"/>
          </p:nvPr>
        </p:nvSpPr>
        <p:spPr/>
        <p:txBody>
          <a:bodyPr/>
          <a:lstStyle/>
          <a:p>
            <a:fld id="{78093063-C89A-4436-B1EA-6FAF9DA693C7}" type="slidenum">
              <a:rPr lang="en-IN" altLang="en-US" sz="1100" b="1" smtClean="0"/>
              <a:pPr/>
              <a:t>10</a:t>
            </a:fld>
            <a:endParaRPr lang="en-IN" altLang="en-US" sz="1100" b="1" dirty="0"/>
          </a:p>
        </p:txBody>
      </p:sp>
      <p:pic>
        <p:nvPicPr>
          <p:cNvPr id="3" name="Picture 2" descr="https://lh4.googleusercontent.com/4n19eN9s8Hjb3yAHumQXQJz--2HFF4XEFZxHwFTdnahykXPckLf3RjipZ9EaERLLL1Yj5HIRKctgoaq5Hhpck1lfb6Ur2VF2-hSQeLtA9AfpfJVSNt2AEP6XhybwZJnkit8aP7OqbnUvb-dnbiuuXKkhFlgT64xD7be7Ws4w31Qrn9p8S62IyD5H">
            <a:extLst>
              <a:ext uri="{FF2B5EF4-FFF2-40B4-BE49-F238E27FC236}">
                <a16:creationId xmlns:a16="http://schemas.microsoft.com/office/drawing/2014/main" xmlns="" id="{8A155AC9-805E-2C5F-F489-75CBD641FD92}"/>
              </a:ext>
            </a:extLst>
          </p:cNvPr>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1055928" y="148028"/>
            <a:ext cx="950026" cy="825750"/>
          </a:xfrm>
          <a:prstGeom prst="rect">
            <a:avLst/>
          </a:prstGeom>
          <a:noFill/>
          <a:ln>
            <a:noFill/>
          </a:ln>
        </p:spPr>
      </p:pic>
    </p:spTree>
    <p:extLst>
      <p:ext uri="{BB962C8B-B14F-4D97-AF65-F5344CB8AC3E}">
        <p14:creationId xmlns:p14="http://schemas.microsoft.com/office/powerpoint/2010/main" xmlns="" val="35677634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3600" b="1" dirty="0">
                <a:latin typeface="Times New Roman" pitchFamily="18" charset="0"/>
                <a:cs typeface="Times New Roman" pitchFamily="18" charset="0"/>
              </a:rPr>
              <a:t>Tools/Software libraries</a:t>
            </a:r>
          </a:p>
        </p:txBody>
      </p:sp>
      <p:sp>
        <p:nvSpPr>
          <p:cNvPr id="3" name="Content Placeholder 2"/>
          <p:cNvSpPr>
            <a:spLocks noGrp="1"/>
          </p:cNvSpPr>
          <p:nvPr>
            <p:ph idx="1"/>
          </p:nvPr>
        </p:nvSpPr>
        <p:spPr/>
        <p:txBody>
          <a:bodyPr>
            <a:normAutofit fontScale="92500" lnSpcReduction="10000"/>
          </a:bodyPr>
          <a:lstStyle/>
          <a:p>
            <a:pPr algn="just">
              <a:lnSpc>
                <a:spcPct val="150000"/>
              </a:lnSpc>
              <a:buNone/>
            </a:pPr>
            <a:r>
              <a:rPr lang="en-US" b="1" dirty="0">
                <a:latin typeface="Times New Roman" pitchFamily="18" charset="0"/>
                <a:cs typeface="Times New Roman" pitchFamily="18" charset="0"/>
              </a:rPr>
              <a:t>Tools and Software Libraries Used</a:t>
            </a:r>
          </a:p>
          <a:p>
            <a:pPr algn="just">
              <a:lnSpc>
                <a:spcPct val="150000"/>
              </a:lnSpc>
              <a:buNone/>
            </a:pPr>
            <a:r>
              <a:rPr lang="en-US" dirty="0" smtClean="0">
                <a:latin typeface="Times New Roman" pitchFamily="18" charset="0"/>
                <a:cs typeface="Times New Roman" pitchFamily="18" charset="0"/>
              </a:rPr>
              <a:t> </a:t>
            </a:r>
            <a:r>
              <a:rPr lang="en-GB" dirty="0" smtClean="0">
                <a:latin typeface="Times New Roman" pitchFamily="18" charset="0"/>
                <a:cs typeface="Times New Roman" pitchFamily="18" charset="0"/>
              </a:rPr>
              <a:t>The Anomaly Aware Transaction Monitoring System is developed using HTML, CSS, and JavaScript, which together provide a simple, secure, and interactive web-based platform suitable for academic demonstration and real-time transaction monitoring. HTML is used to structure the web pages and define user interfaces such as registration and transaction forms. CSS is used to design a responsive and user-friendly interface that improves usability and visual clarity. JavaScript is used as the core logic layer to implement validation, transaction processing, anomaly detection rules, and risk classification. These tools are chosen because they are lightweight, platform-independent, easy to deploy, and well-suited for rapid prototyping of transaction monitoring systems</a:t>
            </a:r>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a:xfrm>
            <a:off x="132433" y="6459785"/>
            <a:ext cx="8295233" cy="365125"/>
          </a:xfrm>
        </p:spPr>
        <p:txBody>
          <a:bodyPr/>
          <a:lstStyle/>
          <a:p>
            <a:pPr algn="l">
              <a:defRPr/>
            </a:pPr>
            <a:r>
              <a:rPr lang="en-US" sz="1100" b="1" dirty="0"/>
              <a:t>Department of CSE, DSATM                                                                                                                           2024-25</a:t>
            </a:r>
            <a:endParaRPr lang="en-IN" sz="1100" b="1" dirty="0"/>
          </a:p>
        </p:txBody>
      </p:sp>
      <p:sp>
        <p:nvSpPr>
          <p:cNvPr id="5" name="Slide Number Placeholder 4"/>
          <p:cNvSpPr>
            <a:spLocks noGrp="1"/>
          </p:cNvSpPr>
          <p:nvPr>
            <p:ph type="sldNum" sz="quarter" idx="12"/>
          </p:nvPr>
        </p:nvSpPr>
        <p:spPr/>
        <p:txBody>
          <a:bodyPr/>
          <a:lstStyle/>
          <a:p>
            <a:fld id="{78093063-C89A-4436-B1EA-6FAF9DA693C7}" type="slidenum">
              <a:rPr lang="en-IN" altLang="en-US" sz="1100" b="1" smtClean="0"/>
              <a:pPr/>
              <a:t>11</a:t>
            </a:fld>
            <a:endParaRPr lang="en-IN" altLang="en-US" sz="1100" b="1" dirty="0"/>
          </a:p>
        </p:txBody>
      </p:sp>
      <p:pic>
        <p:nvPicPr>
          <p:cNvPr id="7" name="Picture 6" descr="https://lh4.googleusercontent.com/4n19eN9s8Hjb3yAHumQXQJz--2HFF4XEFZxHwFTdnahykXPckLf3RjipZ9EaERLLL1Yj5HIRKctgoaq5Hhpck1lfb6Ur2VF2-hSQeLtA9AfpfJVSNt2AEP6XhybwZJnkit8aP7OqbnUvb-dnbiuuXKkhFlgT64xD7be7Ws4w31Qrn9p8S62IyD5H">
            <a:extLst>
              <a:ext uri="{FF2B5EF4-FFF2-40B4-BE49-F238E27FC236}">
                <a16:creationId xmlns:a16="http://schemas.microsoft.com/office/drawing/2014/main" xmlns="" id="{E0E8E399-452C-0BC6-E14A-EC607FC2C37A}"/>
              </a:ext>
            </a:extLst>
          </p:cNvPr>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1055928" y="148028"/>
            <a:ext cx="950026" cy="8257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87CF705-9284-517F-53BF-8D6DB2CD40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6DF51AC0-5C41-2EEA-87A5-B6EE11DFBB7F}"/>
              </a:ext>
            </a:extLst>
          </p:cNvPr>
          <p:cNvSpPr>
            <a:spLocks noGrp="1"/>
          </p:cNvSpPr>
          <p:nvPr>
            <p:ph type="title"/>
          </p:nvPr>
        </p:nvSpPr>
        <p:spPr/>
        <p:txBody>
          <a:bodyPr>
            <a:normAutofit/>
          </a:bodyPr>
          <a:lstStyle/>
          <a:p>
            <a:r>
              <a:rPr lang="en-US" altLang="en-US" sz="3600" b="1" dirty="0">
                <a:latin typeface="Times New Roman" pitchFamily="18" charset="0"/>
                <a:cs typeface="Times New Roman" pitchFamily="18" charset="0"/>
              </a:rPr>
              <a:t>Tools/Software libraries</a:t>
            </a:r>
          </a:p>
        </p:txBody>
      </p:sp>
      <p:sp>
        <p:nvSpPr>
          <p:cNvPr id="3" name="Content Placeholder 2">
            <a:extLst>
              <a:ext uri="{FF2B5EF4-FFF2-40B4-BE49-F238E27FC236}">
                <a16:creationId xmlns:a16="http://schemas.microsoft.com/office/drawing/2014/main" xmlns="" id="{A339C5D9-32D1-97AC-E155-91FB3606D27C}"/>
              </a:ext>
            </a:extLst>
          </p:cNvPr>
          <p:cNvSpPr>
            <a:spLocks noGrp="1"/>
          </p:cNvSpPr>
          <p:nvPr>
            <p:ph idx="1"/>
          </p:nvPr>
        </p:nvSpPr>
        <p:spPr>
          <a:xfrm>
            <a:off x="880533" y="1845734"/>
            <a:ext cx="10275147" cy="4023360"/>
          </a:xfrm>
        </p:spPr>
        <p:txBody>
          <a:bodyPr>
            <a:normAutofit fontScale="85000" lnSpcReduction="20000"/>
          </a:bodyPr>
          <a:lstStyle/>
          <a:p>
            <a:pPr algn="just">
              <a:lnSpc>
                <a:spcPct val="150000"/>
              </a:lnSpc>
              <a:buNone/>
            </a:pPr>
            <a:r>
              <a:rPr lang="en-GB" sz="1800" b="1" dirty="0" smtClean="0">
                <a:latin typeface="Times New Roman" panose="02020603050405020304" pitchFamily="18" charset="0"/>
                <a:cs typeface="Times New Roman" panose="02020603050405020304" pitchFamily="18" charset="0"/>
              </a:rPr>
              <a:t>Important Features of the </a:t>
            </a:r>
            <a:r>
              <a:rPr lang="en-GB" sz="1800" b="1" dirty="0" smtClean="0">
                <a:latin typeface="Times New Roman" panose="02020603050405020304" pitchFamily="18" charset="0"/>
                <a:cs typeface="Times New Roman" panose="02020603050405020304" pitchFamily="18" charset="0"/>
              </a:rPr>
              <a:t>Tools</a:t>
            </a:r>
          </a:p>
          <a:p>
            <a:pPr algn="just">
              <a:lnSpc>
                <a:spcPct val="150000"/>
              </a:lnSpc>
              <a:buFont typeface="Wingdings" pitchFamily="2" charset="2"/>
              <a:buChar char="Ø"/>
            </a:pPr>
            <a:r>
              <a:rPr lang="en-GB" b="1" dirty="0" smtClean="0">
                <a:latin typeface="Times New Roman" panose="02020603050405020304" pitchFamily="18" charset="0"/>
                <a:cs typeface="Times New Roman" panose="02020603050405020304" pitchFamily="18" charset="0"/>
              </a:rPr>
              <a:t>HTML</a:t>
            </a:r>
            <a:r>
              <a:rPr lang="en-GB" dirty="0" smtClean="0">
                <a:latin typeface="Times New Roman" panose="02020603050405020304" pitchFamily="18" charset="0"/>
                <a:cs typeface="Times New Roman" panose="02020603050405020304" pitchFamily="18" charset="0"/>
              </a:rPr>
              <a:t> </a:t>
            </a:r>
            <a:r>
              <a:rPr lang="en-GB" dirty="0" smtClean="0">
                <a:latin typeface="Times New Roman" panose="02020603050405020304" pitchFamily="18" charset="0"/>
                <a:cs typeface="Times New Roman" panose="02020603050405020304" pitchFamily="18" charset="0"/>
              </a:rPr>
              <a:t>provides structured content and form elements for secure user input such as User ID, PIN, and transaction </a:t>
            </a:r>
            <a:r>
              <a:rPr lang="en-GB" dirty="0" smtClean="0">
                <a:latin typeface="Times New Roman" panose="02020603050405020304" pitchFamily="18" charset="0"/>
                <a:cs typeface="Times New Roman" panose="02020603050405020304" pitchFamily="18" charset="0"/>
              </a:rPr>
              <a:t>amount.</a:t>
            </a:r>
          </a:p>
          <a:p>
            <a:pPr algn="just">
              <a:lnSpc>
                <a:spcPct val="150000"/>
              </a:lnSpc>
              <a:buFont typeface="Wingdings" pitchFamily="2" charset="2"/>
              <a:buChar char="Ø"/>
            </a:pPr>
            <a:r>
              <a:rPr lang="en-GB" b="1" dirty="0" smtClean="0">
                <a:latin typeface="Times New Roman" panose="02020603050405020304" pitchFamily="18" charset="0"/>
                <a:cs typeface="Times New Roman" panose="02020603050405020304" pitchFamily="18" charset="0"/>
              </a:rPr>
              <a:t>CSS</a:t>
            </a:r>
            <a:r>
              <a:rPr lang="en-GB" dirty="0" smtClean="0">
                <a:latin typeface="Times New Roman" panose="02020603050405020304" pitchFamily="18" charset="0"/>
                <a:cs typeface="Times New Roman" panose="02020603050405020304" pitchFamily="18" charset="0"/>
              </a:rPr>
              <a:t> </a:t>
            </a:r>
            <a:r>
              <a:rPr lang="en-GB" dirty="0" smtClean="0">
                <a:latin typeface="Times New Roman" panose="02020603050405020304" pitchFamily="18" charset="0"/>
                <a:cs typeface="Times New Roman" panose="02020603050405020304" pitchFamily="18" charset="0"/>
              </a:rPr>
              <a:t>enhances user experience by offering responsive layouts, visual hierarchy, and clear presentation of alerts and results</a:t>
            </a:r>
            <a:r>
              <a:rPr lang="en-GB" dirty="0" smtClean="0">
                <a:latin typeface="Times New Roman" panose="02020603050405020304" pitchFamily="18" charset="0"/>
                <a:cs typeface="Times New Roman" panose="02020603050405020304" pitchFamily="18" charset="0"/>
              </a:rPr>
              <a:t>.</a:t>
            </a:r>
          </a:p>
          <a:p>
            <a:pPr algn="just">
              <a:lnSpc>
                <a:spcPct val="150000"/>
              </a:lnSpc>
              <a:buFont typeface="Wingdings" pitchFamily="2" charset="2"/>
              <a:buChar char="Ø"/>
            </a:pPr>
            <a:r>
              <a:rPr lang="en-GB" b="1" dirty="0" smtClean="0">
                <a:latin typeface="Times New Roman" panose="02020603050405020304" pitchFamily="18" charset="0"/>
                <a:cs typeface="Times New Roman" panose="02020603050405020304" pitchFamily="18" charset="0"/>
              </a:rPr>
              <a:t>JavaScript</a:t>
            </a:r>
            <a:r>
              <a:rPr lang="en-GB" dirty="0" smtClean="0">
                <a:latin typeface="Times New Roman" panose="02020603050405020304" pitchFamily="18" charset="0"/>
                <a:cs typeface="Times New Roman" panose="02020603050405020304" pitchFamily="18" charset="0"/>
              </a:rPr>
              <a:t> </a:t>
            </a:r>
            <a:r>
              <a:rPr lang="en-GB" dirty="0" smtClean="0">
                <a:latin typeface="Times New Roman" panose="02020603050405020304" pitchFamily="18" charset="0"/>
                <a:cs typeface="Times New Roman" panose="02020603050405020304" pitchFamily="18" charset="0"/>
              </a:rPr>
              <a:t>enables client-side validation, real-time transaction analysis, and rule-based anomaly detection</a:t>
            </a:r>
            <a:r>
              <a:rPr lang="en-GB" dirty="0" smtClean="0">
                <a:latin typeface="Times New Roman" panose="02020603050405020304" pitchFamily="18" charset="0"/>
                <a:cs typeface="Times New Roman" panose="02020603050405020304" pitchFamily="18" charset="0"/>
              </a:rPr>
              <a:t>.</a:t>
            </a:r>
          </a:p>
          <a:p>
            <a:pPr algn="just">
              <a:lnSpc>
                <a:spcPct val="150000"/>
              </a:lnSpc>
              <a:buFont typeface="Wingdings" pitchFamily="2" charset="2"/>
              <a:buChar char="Ø"/>
            </a:pPr>
            <a:r>
              <a:rPr lang="en-GB" dirty="0" smtClean="0">
                <a:latin typeface="Times New Roman" panose="02020603050405020304" pitchFamily="18" charset="0"/>
                <a:cs typeface="Times New Roman" panose="02020603050405020304" pitchFamily="18" charset="0"/>
              </a:rPr>
              <a:t>Risk </a:t>
            </a:r>
            <a:r>
              <a:rPr lang="en-GB" dirty="0" smtClean="0">
                <a:latin typeface="Times New Roman" panose="02020603050405020304" pitchFamily="18" charset="0"/>
                <a:cs typeface="Times New Roman" panose="02020603050405020304" pitchFamily="18" charset="0"/>
              </a:rPr>
              <a:t>classification logic implemented in JavaScript categorizes transactions into low, medium, and high risk based on predefined thresholds</a:t>
            </a:r>
            <a:r>
              <a:rPr lang="en-GB" dirty="0" smtClean="0">
                <a:latin typeface="Times New Roman" panose="02020603050405020304" pitchFamily="18" charset="0"/>
                <a:cs typeface="Times New Roman" panose="02020603050405020304" pitchFamily="18" charset="0"/>
              </a:rPr>
              <a:t>.</a:t>
            </a:r>
          </a:p>
          <a:p>
            <a:pPr algn="just">
              <a:lnSpc>
                <a:spcPct val="150000"/>
              </a:lnSpc>
              <a:buFont typeface="Wingdings" pitchFamily="2" charset="2"/>
              <a:buChar char="Ø"/>
            </a:pPr>
            <a:r>
              <a:rPr lang="en-GB" dirty="0" smtClean="0">
                <a:latin typeface="Times New Roman" panose="02020603050405020304" pitchFamily="18" charset="0"/>
                <a:cs typeface="Times New Roman" panose="02020603050405020304" pitchFamily="18" charset="0"/>
              </a:rPr>
              <a:t>Dynamic </a:t>
            </a:r>
            <a:r>
              <a:rPr lang="en-GB" dirty="0" smtClean="0">
                <a:latin typeface="Times New Roman" panose="02020603050405020304" pitchFamily="18" charset="0"/>
                <a:cs typeface="Times New Roman" panose="02020603050405020304" pitchFamily="18" charset="0"/>
              </a:rPr>
              <a:t>transaction history and real-time risk statistics help users understand transaction </a:t>
            </a:r>
            <a:r>
              <a:rPr lang="en-GB" dirty="0" err="1" smtClean="0">
                <a:latin typeface="Times New Roman" panose="02020603050405020304" pitchFamily="18" charset="0"/>
                <a:cs typeface="Times New Roman" panose="02020603050405020304" pitchFamily="18" charset="0"/>
              </a:rPr>
              <a:t>behavior</a:t>
            </a:r>
            <a:r>
              <a:rPr lang="en-GB" dirty="0" smtClean="0">
                <a:latin typeface="Times New Roman" panose="02020603050405020304" pitchFamily="18" charset="0"/>
                <a:cs typeface="Times New Roman" panose="02020603050405020304" pitchFamily="18" charset="0"/>
              </a:rPr>
              <a:t> </a:t>
            </a:r>
            <a:r>
              <a:rPr lang="en-GB" dirty="0" smtClean="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xmlns="" id="{C114F2E8-FF92-8D95-C678-67008662B3CE}"/>
              </a:ext>
            </a:extLst>
          </p:cNvPr>
          <p:cNvSpPr>
            <a:spLocks noGrp="1"/>
          </p:cNvSpPr>
          <p:nvPr>
            <p:ph type="ftr" sz="quarter" idx="11"/>
          </p:nvPr>
        </p:nvSpPr>
        <p:spPr>
          <a:xfrm>
            <a:off x="132433" y="6459785"/>
            <a:ext cx="8295233" cy="365125"/>
          </a:xfrm>
        </p:spPr>
        <p:txBody>
          <a:bodyPr/>
          <a:lstStyle/>
          <a:p>
            <a:pPr algn="l">
              <a:defRPr/>
            </a:pPr>
            <a:r>
              <a:rPr lang="en-US" sz="1100" b="1" dirty="0"/>
              <a:t>Department of CSE, DSATM                                                                                                                           2024-25</a:t>
            </a:r>
            <a:endParaRPr lang="en-IN" sz="1100" b="1" dirty="0"/>
          </a:p>
        </p:txBody>
      </p:sp>
      <p:sp>
        <p:nvSpPr>
          <p:cNvPr id="5" name="Slide Number Placeholder 4">
            <a:extLst>
              <a:ext uri="{FF2B5EF4-FFF2-40B4-BE49-F238E27FC236}">
                <a16:creationId xmlns:a16="http://schemas.microsoft.com/office/drawing/2014/main" xmlns="" id="{C192565D-DC4D-468E-7EE9-0716BA75796F}"/>
              </a:ext>
            </a:extLst>
          </p:cNvPr>
          <p:cNvSpPr>
            <a:spLocks noGrp="1"/>
          </p:cNvSpPr>
          <p:nvPr>
            <p:ph type="sldNum" sz="quarter" idx="12"/>
          </p:nvPr>
        </p:nvSpPr>
        <p:spPr/>
        <p:txBody>
          <a:bodyPr/>
          <a:lstStyle/>
          <a:p>
            <a:fld id="{78093063-C89A-4436-B1EA-6FAF9DA693C7}" type="slidenum">
              <a:rPr lang="en-IN" altLang="en-US" sz="1100" b="1" smtClean="0"/>
              <a:pPr/>
              <a:t>12</a:t>
            </a:fld>
            <a:endParaRPr lang="en-IN" altLang="en-US" sz="1100" b="1" dirty="0"/>
          </a:p>
        </p:txBody>
      </p:sp>
      <p:pic>
        <p:nvPicPr>
          <p:cNvPr id="7" name="Picture 6" descr="https://lh4.googleusercontent.com/4n19eN9s8Hjb3yAHumQXQJz--2HFF4XEFZxHwFTdnahykXPckLf3RjipZ9EaERLLL1Yj5HIRKctgoaq5Hhpck1lfb6Ur2VF2-hSQeLtA9AfpfJVSNt2AEP6XhybwZJnkit8aP7OqbnUvb-dnbiuuXKkhFlgT64xD7be7Ws4w31Qrn9p8S62IyD5H">
            <a:extLst>
              <a:ext uri="{FF2B5EF4-FFF2-40B4-BE49-F238E27FC236}">
                <a16:creationId xmlns:a16="http://schemas.microsoft.com/office/drawing/2014/main" xmlns="" id="{827A3829-016F-1C52-80C9-A3D3A0E0690B}"/>
              </a:ext>
            </a:extLst>
          </p:cNvPr>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1055928" y="148028"/>
            <a:ext cx="950026" cy="825750"/>
          </a:xfrm>
          <a:prstGeom prst="rect">
            <a:avLst/>
          </a:prstGeom>
          <a:noFill/>
          <a:ln>
            <a:noFill/>
          </a:ln>
        </p:spPr>
      </p:pic>
    </p:spTree>
    <p:extLst>
      <p:ext uri="{BB962C8B-B14F-4D97-AF65-F5344CB8AC3E}">
        <p14:creationId xmlns:p14="http://schemas.microsoft.com/office/powerpoint/2010/main" xmlns="" val="17617440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C198D44-E688-FC75-0BF1-DBAE88A574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026135F4-6294-78AB-F95C-C2279E9529B2}"/>
              </a:ext>
            </a:extLst>
          </p:cNvPr>
          <p:cNvSpPr>
            <a:spLocks noGrp="1"/>
          </p:cNvSpPr>
          <p:nvPr>
            <p:ph type="title"/>
          </p:nvPr>
        </p:nvSpPr>
        <p:spPr/>
        <p:txBody>
          <a:bodyPr>
            <a:normAutofit/>
          </a:bodyPr>
          <a:lstStyle/>
          <a:p>
            <a:r>
              <a:rPr lang="en-US" altLang="en-US" sz="3600" b="1" dirty="0">
                <a:latin typeface="Times New Roman" pitchFamily="18" charset="0"/>
                <a:cs typeface="Times New Roman" pitchFamily="18" charset="0"/>
              </a:rPr>
              <a:t>Tools/Software libraries</a:t>
            </a:r>
          </a:p>
        </p:txBody>
      </p:sp>
      <p:sp>
        <p:nvSpPr>
          <p:cNvPr id="3" name="Content Placeholder 2">
            <a:extLst>
              <a:ext uri="{FF2B5EF4-FFF2-40B4-BE49-F238E27FC236}">
                <a16:creationId xmlns:a16="http://schemas.microsoft.com/office/drawing/2014/main" xmlns="" id="{B72819AF-2064-7B45-FBD2-A4A6AB746A6B}"/>
              </a:ext>
            </a:extLst>
          </p:cNvPr>
          <p:cNvSpPr>
            <a:spLocks noGrp="1"/>
          </p:cNvSpPr>
          <p:nvPr>
            <p:ph idx="1"/>
          </p:nvPr>
        </p:nvSpPr>
        <p:spPr>
          <a:xfrm>
            <a:off x="724747" y="1705102"/>
            <a:ext cx="10058400" cy="4023360"/>
          </a:xfrm>
        </p:spPr>
        <p:txBody>
          <a:bodyPr>
            <a:noAutofit/>
          </a:bodyPr>
          <a:lstStyle/>
          <a:p>
            <a:pPr algn="just">
              <a:lnSpc>
                <a:spcPct val="160000"/>
              </a:lnSpc>
              <a:buNone/>
            </a:pPr>
            <a:r>
              <a:rPr lang="en-US" b="1" dirty="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 </a:t>
            </a:r>
            <a:r>
              <a:rPr lang="en-GB" sz="2400" b="1" dirty="0" smtClean="0">
                <a:latin typeface="Times New Roman" panose="02020603050405020304" pitchFamily="18" charset="0"/>
                <a:cs typeface="Times New Roman" panose="02020603050405020304" pitchFamily="18" charset="0"/>
              </a:rPr>
              <a:t>Advantages of Chosen </a:t>
            </a:r>
            <a:r>
              <a:rPr lang="en-GB" sz="2400" b="1" dirty="0" smtClean="0">
                <a:latin typeface="Times New Roman" panose="02020603050405020304" pitchFamily="18" charset="0"/>
                <a:cs typeface="Times New Roman" panose="02020603050405020304" pitchFamily="18" charset="0"/>
              </a:rPr>
              <a:t>Tools</a:t>
            </a:r>
            <a:endParaRPr lang="en-GB" b="1" dirty="0" smtClean="0">
              <a:latin typeface="Times New Roman" panose="02020603050405020304" pitchFamily="18" charset="0"/>
              <a:cs typeface="Times New Roman" panose="02020603050405020304" pitchFamily="18" charset="0"/>
            </a:endParaRPr>
          </a:p>
          <a:p>
            <a:pPr algn="just">
              <a:lnSpc>
                <a:spcPct val="160000"/>
              </a:lnSpc>
              <a:buFont typeface="Wingdings" pitchFamily="2" charset="2"/>
              <a:buChar char="Ø"/>
            </a:pPr>
            <a:r>
              <a:rPr lang="en-GB" dirty="0" smtClean="0">
                <a:latin typeface="Times New Roman" panose="02020603050405020304" pitchFamily="18" charset="0"/>
                <a:cs typeface="Times New Roman" panose="02020603050405020304" pitchFamily="18" charset="0"/>
              </a:rPr>
              <a:t>Easy </a:t>
            </a:r>
            <a:r>
              <a:rPr lang="en-GB" dirty="0" smtClean="0">
                <a:latin typeface="Times New Roman" panose="02020603050405020304" pitchFamily="18" charset="0"/>
                <a:cs typeface="Times New Roman" panose="02020603050405020304" pitchFamily="18" charset="0"/>
              </a:rPr>
              <a:t>to implement and understand for academic and PBL purposes</a:t>
            </a:r>
            <a:r>
              <a:rPr lang="en-GB" dirty="0" smtClean="0">
                <a:latin typeface="Times New Roman" panose="02020603050405020304" pitchFamily="18" charset="0"/>
                <a:cs typeface="Times New Roman" panose="02020603050405020304" pitchFamily="18" charset="0"/>
              </a:rPr>
              <a:t>.</a:t>
            </a:r>
          </a:p>
          <a:p>
            <a:pPr algn="just">
              <a:lnSpc>
                <a:spcPct val="160000"/>
              </a:lnSpc>
              <a:buFont typeface="Wingdings" pitchFamily="2" charset="2"/>
              <a:buChar char="Ø"/>
            </a:pPr>
            <a:r>
              <a:rPr lang="en-GB" dirty="0" smtClean="0">
                <a:latin typeface="Times New Roman" panose="02020603050405020304" pitchFamily="18" charset="0"/>
                <a:cs typeface="Times New Roman" panose="02020603050405020304" pitchFamily="18" charset="0"/>
              </a:rPr>
              <a:t>Provides </a:t>
            </a:r>
            <a:r>
              <a:rPr lang="en-GB" dirty="0" smtClean="0">
                <a:latin typeface="Times New Roman" panose="02020603050405020304" pitchFamily="18" charset="0"/>
                <a:cs typeface="Times New Roman" panose="02020603050405020304" pitchFamily="18" charset="0"/>
              </a:rPr>
              <a:t>real-time feedback and anomaly detection without server dependency</a:t>
            </a:r>
            <a:r>
              <a:rPr lang="en-GB" dirty="0" smtClean="0">
                <a:latin typeface="Times New Roman" panose="02020603050405020304" pitchFamily="18" charset="0"/>
                <a:cs typeface="Times New Roman" panose="02020603050405020304" pitchFamily="18" charset="0"/>
              </a:rPr>
              <a:t>.</a:t>
            </a:r>
          </a:p>
          <a:p>
            <a:pPr algn="just">
              <a:lnSpc>
                <a:spcPct val="160000"/>
              </a:lnSpc>
              <a:buFont typeface="Wingdings" pitchFamily="2" charset="2"/>
              <a:buChar char="Ø"/>
            </a:pPr>
            <a:r>
              <a:rPr lang="en-GB" dirty="0" smtClean="0">
                <a:latin typeface="Times New Roman" panose="02020603050405020304" pitchFamily="18" charset="0"/>
                <a:cs typeface="Times New Roman" panose="02020603050405020304" pitchFamily="18" charset="0"/>
              </a:rPr>
              <a:t>Cost-effective </a:t>
            </a:r>
            <a:r>
              <a:rPr lang="en-GB" dirty="0" smtClean="0">
                <a:latin typeface="Times New Roman" panose="02020603050405020304" pitchFamily="18" charset="0"/>
                <a:cs typeface="Times New Roman" panose="02020603050405020304" pitchFamily="18" charset="0"/>
              </a:rPr>
              <a:t>and requires no licensed software</a:t>
            </a:r>
            <a:r>
              <a:rPr lang="en-GB" dirty="0" smtClean="0">
                <a:latin typeface="Times New Roman" panose="02020603050405020304" pitchFamily="18" charset="0"/>
                <a:cs typeface="Times New Roman" panose="02020603050405020304" pitchFamily="18" charset="0"/>
              </a:rPr>
              <a:t>.</a:t>
            </a:r>
          </a:p>
          <a:p>
            <a:pPr algn="just">
              <a:lnSpc>
                <a:spcPct val="160000"/>
              </a:lnSpc>
              <a:buFont typeface="Wingdings" pitchFamily="2" charset="2"/>
              <a:buChar char="Ø"/>
            </a:pPr>
            <a:r>
              <a:rPr lang="en-GB" dirty="0" smtClean="0">
                <a:latin typeface="Times New Roman" panose="02020603050405020304" pitchFamily="18" charset="0"/>
                <a:cs typeface="Times New Roman" panose="02020603050405020304" pitchFamily="18" charset="0"/>
              </a:rPr>
              <a:t>Forms </a:t>
            </a:r>
            <a:r>
              <a:rPr lang="en-GB" dirty="0" smtClean="0">
                <a:latin typeface="Times New Roman" panose="02020603050405020304" pitchFamily="18" charset="0"/>
                <a:cs typeface="Times New Roman" panose="02020603050405020304" pitchFamily="18" charset="0"/>
              </a:rPr>
              <a:t>a strong foundation for future enhancement using backend technologies and advanced fraud detection techniques</a:t>
            </a:r>
            <a:r>
              <a:rPr lang="en-GB" b="1"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xmlns="" id="{13C9E9E2-92E4-2B4D-7A54-ABCCAEC7EA04}"/>
              </a:ext>
            </a:extLst>
          </p:cNvPr>
          <p:cNvSpPr>
            <a:spLocks noGrp="1"/>
          </p:cNvSpPr>
          <p:nvPr>
            <p:ph type="ftr" sz="quarter" idx="11"/>
          </p:nvPr>
        </p:nvSpPr>
        <p:spPr>
          <a:xfrm>
            <a:off x="132433" y="6459785"/>
            <a:ext cx="8295233" cy="365125"/>
          </a:xfrm>
        </p:spPr>
        <p:txBody>
          <a:bodyPr/>
          <a:lstStyle/>
          <a:p>
            <a:pPr algn="l">
              <a:defRPr/>
            </a:pPr>
            <a:r>
              <a:rPr lang="en-US" sz="1100" b="1" dirty="0"/>
              <a:t>Department of CSE, DSATM                                                                                                                           2024-25</a:t>
            </a:r>
            <a:endParaRPr lang="en-IN" sz="1100" b="1" dirty="0"/>
          </a:p>
        </p:txBody>
      </p:sp>
      <p:sp>
        <p:nvSpPr>
          <p:cNvPr id="5" name="Slide Number Placeholder 4">
            <a:extLst>
              <a:ext uri="{FF2B5EF4-FFF2-40B4-BE49-F238E27FC236}">
                <a16:creationId xmlns:a16="http://schemas.microsoft.com/office/drawing/2014/main" xmlns="" id="{F4E4059A-A76E-7E57-C9C0-4AFC10747061}"/>
              </a:ext>
            </a:extLst>
          </p:cNvPr>
          <p:cNvSpPr>
            <a:spLocks noGrp="1"/>
          </p:cNvSpPr>
          <p:nvPr>
            <p:ph type="sldNum" sz="quarter" idx="12"/>
          </p:nvPr>
        </p:nvSpPr>
        <p:spPr/>
        <p:txBody>
          <a:bodyPr/>
          <a:lstStyle/>
          <a:p>
            <a:fld id="{78093063-C89A-4436-B1EA-6FAF9DA693C7}" type="slidenum">
              <a:rPr lang="en-IN" altLang="en-US" sz="1100" b="1" smtClean="0"/>
              <a:pPr/>
              <a:t>13</a:t>
            </a:fld>
            <a:endParaRPr lang="en-IN" altLang="en-US" sz="1100" b="1" dirty="0"/>
          </a:p>
        </p:txBody>
      </p:sp>
      <p:pic>
        <p:nvPicPr>
          <p:cNvPr id="7" name="Picture 6" descr="https://lh4.googleusercontent.com/4n19eN9s8Hjb3yAHumQXQJz--2HFF4XEFZxHwFTdnahykXPckLf3RjipZ9EaERLLL1Yj5HIRKctgoaq5Hhpck1lfb6Ur2VF2-hSQeLtA9AfpfJVSNt2AEP6XhybwZJnkit8aP7OqbnUvb-dnbiuuXKkhFlgT64xD7be7Ws4w31Qrn9p8S62IyD5H">
            <a:extLst>
              <a:ext uri="{FF2B5EF4-FFF2-40B4-BE49-F238E27FC236}">
                <a16:creationId xmlns:a16="http://schemas.microsoft.com/office/drawing/2014/main" xmlns="" id="{742F12BA-6E25-DC94-CEE9-994F36A73B06}"/>
              </a:ext>
            </a:extLst>
          </p:cNvPr>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1055928" y="148028"/>
            <a:ext cx="950026" cy="825750"/>
          </a:xfrm>
          <a:prstGeom prst="rect">
            <a:avLst/>
          </a:prstGeom>
          <a:noFill/>
          <a:ln>
            <a:noFill/>
          </a:ln>
        </p:spPr>
      </p:pic>
    </p:spTree>
    <p:extLst>
      <p:ext uri="{BB962C8B-B14F-4D97-AF65-F5344CB8AC3E}">
        <p14:creationId xmlns:p14="http://schemas.microsoft.com/office/powerpoint/2010/main" xmlns="" val="30778881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3600" b="1" dirty="0">
                <a:latin typeface="Times New Roman" pitchFamily="18" charset="0"/>
                <a:cs typeface="Times New Roman" pitchFamily="18" charset="0"/>
              </a:rPr>
              <a:t>Plan of action for next presentation</a:t>
            </a:r>
          </a:p>
        </p:txBody>
      </p:sp>
      <p:sp>
        <p:nvSpPr>
          <p:cNvPr id="3" name="Content Placeholder 2"/>
          <p:cNvSpPr>
            <a:spLocks noGrp="1"/>
          </p:cNvSpPr>
          <p:nvPr>
            <p:ph idx="1"/>
          </p:nvPr>
        </p:nvSpPr>
        <p:spPr/>
        <p:txBody>
          <a:bodyPr>
            <a:normAutofit lnSpcReduction="10000"/>
          </a:bodyPr>
          <a:lstStyle/>
          <a:p>
            <a:pPr algn="just" fontAlgn="auto">
              <a:lnSpc>
                <a:spcPct val="150000"/>
              </a:lnSpc>
              <a:spcAft>
                <a:spcPts val="0"/>
              </a:spcAft>
              <a:buNone/>
              <a:defRPr/>
            </a:pPr>
            <a:r>
              <a:rPr lang="en-GB" dirty="0" smtClean="0">
                <a:latin typeface="Times New Roman" panose="02020603050405020304" pitchFamily="18" charset="0"/>
                <a:cs typeface="Times New Roman" panose="02020603050405020304" pitchFamily="18" charset="0"/>
              </a:rPr>
              <a:t>In the next phase of the project, the focus will be on designing and implementing the Anomaly Aware Transaction Monitoring system. Initially, detailed system architecture and module design will be prepared to clearly define the workflow of transaction monitoring and anomaly detection. Subsequently, the database schema will be designed, and sample transaction datasets will be collected and </a:t>
            </a:r>
            <a:r>
              <a:rPr lang="en-GB" dirty="0" err="1" smtClean="0">
                <a:latin typeface="Times New Roman" panose="02020603050405020304" pitchFamily="18" charset="0"/>
                <a:cs typeface="Times New Roman" panose="02020603050405020304" pitchFamily="18" charset="0"/>
              </a:rPr>
              <a:t>preprocessed</a:t>
            </a:r>
            <a:r>
              <a:rPr lang="en-GB" dirty="0" smtClean="0">
                <a:latin typeface="Times New Roman" panose="02020603050405020304" pitchFamily="18" charset="0"/>
                <a:cs typeface="Times New Roman" panose="02020603050405020304" pitchFamily="18" charset="0"/>
              </a:rPr>
              <a:t> for analysis. The anomaly detection logic will then be implemented using suitable algorithms to identify abnormal transaction patterns. After implementation, the system will be tested using different transaction scenarios to evaluate accuracy and performance. Finally, the results, observations, and system outputs will be documented, and a demonstration along with future enhancement possibilities will be prepared for the next presentation.</a:t>
            </a:r>
            <a:endParaRPr lang="en-US"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a:xfrm>
            <a:off x="154379" y="6388834"/>
            <a:ext cx="8508989" cy="365125"/>
          </a:xfrm>
        </p:spPr>
        <p:txBody>
          <a:bodyPr/>
          <a:lstStyle/>
          <a:p>
            <a:pPr algn="l">
              <a:defRPr/>
            </a:pPr>
            <a:r>
              <a:rPr lang="en-US" sz="1100" b="1" dirty="0"/>
              <a:t>Department of CSE, DSATM                                                                                                                                   2024-25</a:t>
            </a:r>
            <a:endParaRPr lang="en-IN" sz="1100" b="1" dirty="0"/>
          </a:p>
        </p:txBody>
      </p:sp>
      <p:sp>
        <p:nvSpPr>
          <p:cNvPr id="5" name="Slide Number Placeholder 4"/>
          <p:cNvSpPr>
            <a:spLocks noGrp="1"/>
          </p:cNvSpPr>
          <p:nvPr>
            <p:ph type="sldNum" sz="quarter" idx="12"/>
          </p:nvPr>
        </p:nvSpPr>
        <p:spPr/>
        <p:txBody>
          <a:bodyPr/>
          <a:lstStyle/>
          <a:p>
            <a:fld id="{78093063-C89A-4436-B1EA-6FAF9DA693C7}" type="slidenum">
              <a:rPr lang="en-IN" altLang="en-US" sz="1100" b="1" smtClean="0"/>
              <a:pPr/>
              <a:t>14</a:t>
            </a:fld>
            <a:endParaRPr lang="en-IN" altLang="en-US" b="1" dirty="0"/>
          </a:p>
        </p:txBody>
      </p:sp>
      <p:pic>
        <p:nvPicPr>
          <p:cNvPr id="7" name="Picture 6" descr="https://lh4.googleusercontent.com/4n19eN9s8Hjb3yAHumQXQJz--2HFF4XEFZxHwFTdnahykXPckLf3RjipZ9EaERLLL1Yj5HIRKctgoaq5Hhpck1lfb6Ur2VF2-hSQeLtA9AfpfJVSNt2AEP6XhybwZJnkit8aP7OqbnUvb-dnbiuuXKkhFlgT64xD7be7Ws4w31Qrn9p8S62IyD5H">
            <a:extLst>
              <a:ext uri="{FF2B5EF4-FFF2-40B4-BE49-F238E27FC236}">
                <a16:creationId xmlns:a16="http://schemas.microsoft.com/office/drawing/2014/main" xmlns="" id="{054092D6-DC54-F1C8-1E76-7DDCF857E711}"/>
              </a:ext>
            </a:extLst>
          </p:cNvPr>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1055928" y="148028"/>
            <a:ext cx="950026" cy="8257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2">
            <a:extLst>
              <a:ext uri="{FF2B5EF4-FFF2-40B4-BE49-F238E27FC236}">
                <a16:creationId xmlns:a16="http://schemas.microsoft.com/office/drawing/2014/main" xmlns="" id="{D5EC2233-4B7A-4647-836C-48DCDA6C6426}"/>
              </a:ext>
            </a:extLst>
          </p:cNvPr>
          <p:cNvSpPr>
            <a:spLocks noGrp="1"/>
          </p:cNvSpPr>
          <p:nvPr>
            <p:ph idx="1"/>
          </p:nvPr>
        </p:nvSpPr>
        <p:spPr>
          <a:xfrm>
            <a:off x="838200" y="395290"/>
            <a:ext cx="10515600" cy="5781675"/>
          </a:xfrm>
        </p:spPr>
        <p:txBody>
          <a:bodyPr/>
          <a:lstStyle/>
          <a:p>
            <a:pPr marL="0" indent="0" algn="ctr">
              <a:buFont typeface="Arial" panose="020B0604020202020204" pitchFamily="34" charset="0"/>
              <a:buNone/>
            </a:pPr>
            <a:endParaRPr lang="en-IN" altLang="en-US" sz="7200" dirty="0"/>
          </a:p>
          <a:p>
            <a:pPr marL="0" indent="0" algn="ctr">
              <a:buFont typeface="Arial" panose="020B0604020202020204" pitchFamily="34" charset="0"/>
              <a:buNone/>
            </a:pPr>
            <a:endParaRPr lang="en-IN" altLang="en-US" sz="7200" dirty="0"/>
          </a:p>
          <a:p>
            <a:pPr marL="0" indent="0" algn="ctr">
              <a:buFont typeface="Arial" panose="020B0604020202020204" pitchFamily="34" charset="0"/>
              <a:buNone/>
            </a:pPr>
            <a:r>
              <a:rPr lang="en-IN" altLang="en-US" sz="7200" dirty="0"/>
              <a:t>Thank You</a:t>
            </a:r>
          </a:p>
        </p:txBody>
      </p:sp>
      <p:sp>
        <p:nvSpPr>
          <p:cNvPr id="4" name="Footer Placeholder 3"/>
          <p:cNvSpPr>
            <a:spLocks noGrp="1"/>
          </p:cNvSpPr>
          <p:nvPr>
            <p:ph type="ftr" sz="quarter" idx="11"/>
          </p:nvPr>
        </p:nvSpPr>
        <p:spPr>
          <a:xfrm>
            <a:off x="178404" y="6459785"/>
            <a:ext cx="7856630" cy="365125"/>
          </a:xfrm>
        </p:spPr>
        <p:txBody>
          <a:bodyPr/>
          <a:lstStyle/>
          <a:p>
            <a:pPr algn="l">
              <a:defRPr/>
            </a:pPr>
            <a:r>
              <a:rPr lang="en-US" sz="1100" b="1" dirty="0"/>
              <a:t>Department of CSE, DSATM                                        					</a:t>
            </a:r>
            <a:r>
              <a:rPr lang="en-US" sz="1100" b="1"/>
              <a:t>	 2024-25</a:t>
            </a:r>
            <a:endParaRPr lang="en-IN" sz="1100" b="1" dirty="0"/>
          </a:p>
        </p:txBody>
      </p:sp>
      <p:sp>
        <p:nvSpPr>
          <p:cNvPr id="5" name="Slide Number Placeholder 4"/>
          <p:cNvSpPr>
            <a:spLocks noGrp="1"/>
          </p:cNvSpPr>
          <p:nvPr>
            <p:ph type="sldNum" sz="quarter" idx="12"/>
          </p:nvPr>
        </p:nvSpPr>
        <p:spPr/>
        <p:txBody>
          <a:bodyPr/>
          <a:lstStyle/>
          <a:p>
            <a:fld id="{78093063-C89A-4436-B1EA-6FAF9DA693C7}" type="slidenum">
              <a:rPr lang="en-IN" altLang="en-US" sz="1100" b="1" smtClean="0"/>
              <a:pPr/>
              <a:t>15</a:t>
            </a:fld>
            <a:endParaRPr lang="en-IN" altLang="en-US" b="1" dirty="0"/>
          </a:p>
        </p:txBody>
      </p:sp>
    </p:spTree>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xmlns=""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259</TotalTime>
  <Words>1080</Words>
  <Application>Microsoft Office PowerPoint</Application>
  <PresentationFormat>Custom</PresentationFormat>
  <Paragraphs>104</Paragraphs>
  <Slides>15</Slides>
  <Notes>1</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Retrospect</vt:lpstr>
      <vt:lpstr>Slide 1</vt:lpstr>
      <vt:lpstr>Agenda</vt:lpstr>
      <vt:lpstr>Introduction</vt:lpstr>
      <vt:lpstr>Introduction</vt:lpstr>
      <vt:lpstr>Problem Statement</vt:lpstr>
      <vt:lpstr>Objectives </vt:lpstr>
      <vt:lpstr>Existing System</vt:lpstr>
      <vt:lpstr>Existing System</vt:lpstr>
      <vt:lpstr>Proposed System</vt:lpstr>
      <vt:lpstr>Proposed System</vt:lpstr>
      <vt:lpstr>Tools/Software libraries</vt:lpstr>
      <vt:lpstr>Tools/Software libraries</vt:lpstr>
      <vt:lpstr>Tools/Software libraries</vt:lpstr>
      <vt:lpstr>Plan of action for next presentation</vt:lpstr>
      <vt:lpstr>Slide 15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ACADEMY OF TECHNOLOGY DEPARTMENT OF COMPUTER SCIENCE AND ENGINEERING</dc:title>
  <dc:creator>admin</dc:creator>
  <cp:lastModifiedBy>Me</cp:lastModifiedBy>
  <cp:revision>52</cp:revision>
  <dcterms:created xsi:type="dcterms:W3CDTF">2018-01-23T09:52:46Z</dcterms:created>
  <dcterms:modified xsi:type="dcterms:W3CDTF">2026-01-15T17:20:42Z</dcterms:modified>
</cp:coreProperties>
</file>